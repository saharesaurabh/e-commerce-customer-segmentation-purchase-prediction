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5"/>
  </p:notesMasterIdLst>
  <p:sldIdLst>
    <p:sldId id="256" r:id="rId2"/>
    <p:sldId id="714" r:id="rId3"/>
    <p:sldId id="674" r:id="rId4"/>
    <p:sldId id="713" r:id="rId5"/>
    <p:sldId id="712" r:id="rId6"/>
    <p:sldId id="676" r:id="rId7"/>
    <p:sldId id="716" r:id="rId8"/>
    <p:sldId id="720" r:id="rId9"/>
    <p:sldId id="721" r:id="rId10"/>
    <p:sldId id="717" r:id="rId11"/>
    <p:sldId id="718" r:id="rId12"/>
    <p:sldId id="719"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B62463-C683-4D24-AEA4-6E973AD49E58}">
          <p14:sldIdLst>
            <p14:sldId id="256"/>
            <p14:sldId id="714"/>
            <p14:sldId id="674"/>
            <p14:sldId id="713"/>
            <p14:sldId id="712"/>
            <p14:sldId id="676"/>
            <p14:sldId id="716"/>
            <p14:sldId id="720"/>
            <p14:sldId id="721"/>
            <p14:sldId id="717"/>
            <p14:sldId id="718"/>
            <p14:sldId id="719"/>
          </p14:sldIdLst>
        </p14:section>
        <p14:section name="Untitled Section" id="{D7C0ABFA-C8FD-4C23-AB79-E75BCAB97D91}">
          <p14:sldIdLst>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65" d="100"/>
          <a:sy n="65" d="100"/>
        </p:scale>
        <p:origin x="632" y="4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10-04-2026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2D31-5413-25F5-F94D-CB9A86721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02371-DF70-FD53-9A78-7470F637A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A76FA-C7DC-AFF3-D848-8909CEF858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027F421-26F4-0409-C886-E766C154BBE0}"/>
              </a:ext>
            </a:extLst>
          </p:cNvPr>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93235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1EFA4-C245-7BEE-C48F-BB7B3FAA7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A1A42-F24A-D510-3154-B38911502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D7628-8DC2-8208-9ACC-6BCE2528AAD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79580F7-F0F6-6CC5-F8F3-0429AAF2D562}"/>
              </a:ext>
            </a:extLst>
          </p:cNvPr>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10246586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2532651"/>
            <a:ext cx="12192000" cy="153790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Customer Segmentation &amp; Prediction Using RFM Analysis</a:t>
            </a:r>
            <a:endParaRPr lang="en-US" sz="4400" dirty="0"/>
          </a:p>
        </p:txBody>
      </p:sp>
      <p:sp>
        <p:nvSpPr>
          <p:cNvPr id="3" name="TextBox 2">
            <a:extLst>
              <a:ext uri="{FF2B5EF4-FFF2-40B4-BE49-F238E27FC236}">
                <a16:creationId xmlns:a16="http://schemas.microsoft.com/office/drawing/2014/main" id="{CE03DC9D-5585-0F90-C7F1-64F79C1ABA50}"/>
              </a:ext>
            </a:extLst>
          </p:cNvPr>
          <p:cNvSpPr txBox="1"/>
          <p:nvPr/>
        </p:nvSpPr>
        <p:spPr>
          <a:xfrm>
            <a:off x="108155" y="5226784"/>
            <a:ext cx="3873910" cy="1631216"/>
          </a:xfrm>
          <a:prstGeom prst="rect">
            <a:avLst/>
          </a:prstGeom>
          <a:noFill/>
        </p:spPr>
        <p:txBody>
          <a:bodyPr wrap="square" rtlCol="0">
            <a:spAutoFit/>
          </a:bodyPr>
          <a:lstStyle/>
          <a:p>
            <a:r>
              <a:rPr lang="en-US" sz="2000" b="1" dirty="0">
                <a:solidFill>
                  <a:schemeClr val="bg1"/>
                </a:solidFill>
              </a:rPr>
              <a:t>Name: Saurabh </a:t>
            </a:r>
            <a:r>
              <a:rPr lang="en-US" sz="2000" b="1" dirty="0" err="1">
                <a:solidFill>
                  <a:schemeClr val="bg1"/>
                </a:solidFill>
              </a:rPr>
              <a:t>Sahare</a:t>
            </a:r>
            <a:r>
              <a:rPr lang="en-US" sz="2000" b="1" dirty="0">
                <a:solidFill>
                  <a:schemeClr val="bg1"/>
                </a:solidFill>
              </a:rPr>
              <a:t> </a:t>
            </a:r>
          </a:p>
          <a:p>
            <a:r>
              <a:rPr lang="en-US" sz="2000" b="1" dirty="0">
                <a:solidFill>
                  <a:schemeClr val="bg1"/>
                </a:solidFill>
              </a:rPr>
              <a:t>Program: Business Analytics / Data Science </a:t>
            </a:r>
          </a:p>
          <a:p>
            <a:r>
              <a:rPr lang="en-US" sz="2000" b="1" dirty="0">
                <a:solidFill>
                  <a:schemeClr val="bg1"/>
                </a:solidFill>
              </a:rPr>
              <a:t>Project Type: Capstone Project </a:t>
            </a:r>
          </a:p>
          <a:p>
            <a:endParaRPr lang="en-IN" sz="2000" b="1" dirty="0">
              <a:solidFill>
                <a:schemeClr val="bg1"/>
              </a:solidFill>
            </a:endParaRPr>
          </a:p>
        </p:txBody>
      </p:sp>
    </p:spTree>
    <p:extLst>
      <p:ext uri="{BB962C8B-B14F-4D97-AF65-F5344CB8AC3E}">
        <p14:creationId xmlns:p14="http://schemas.microsoft.com/office/powerpoint/2010/main" val="1024334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4" name="Rectangle 1">
            <a:extLst>
              <a:ext uri="{FF2B5EF4-FFF2-40B4-BE49-F238E27FC236}">
                <a16:creationId xmlns:a16="http://schemas.microsoft.com/office/drawing/2014/main" id="{47B30CD2-D7BC-F9C9-8C7F-6939F7B120B8}"/>
              </a:ext>
            </a:extLst>
          </p:cNvPr>
          <p:cNvSpPr>
            <a:spLocks noGrp="1" noChangeArrowheads="1"/>
          </p:cNvSpPr>
          <p:nvPr>
            <p:ph idx="1"/>
          </p:nvPr>
        </p:nvSpPr>
        <p:spPr bwMode="auto">
          <a:xfrm>
            <a:off x="678884" y="1520785"/>
            <a:ext cx="8848575"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Problem Statement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Objective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Dataset Overview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Methodology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RFM Analysis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Customer Segmentation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Dashboard Overview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Key Insights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Business Recommendations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chemeClr val="tx1"/>
                </a:solidFill>
                <a:effectLst/>
                <a:latin typeface="Arial" panose="020B0604020202020204" pitchFamily="34" charset="0"/>
              </a:rPr>
              <a:t>Conclusion </a:t>
            </a:r>
          </a:p>
        </p:txBody>
      </p:sp>
      <p:pic>
        <p:nvPicPr>
          <p:cNvPr id="5" name="Picture 4">
            <a:extLst>
              <a:ext uri="{FF2B5EF4-FFF2-40B4-BE49-F238E27FC236}">
                <a16:creationId xmlns:a16="http://schemas.microsoft.com/office/drawing/2014/main" id="{4749F4C7-41AE-5D84-72C5-58704E2F42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96563" y="1445342"/>
            <a:ext cx="6290187" cy="4193458"/>
          </a:xfrm>
          <a:prstGeom prst="rect">
            <a:avLst/>
          </a:prstGeom>
        </p:spPr>
      </p:pic>
    </p:spTree>
    <p:extLst>
      <p:ext uri="{BB962C8B-B14F-4D97-AF65-F5344CB8AC3E}">
        <p14:creationId xmlns:p14="http://schemas.microsoft.com/office/powerpoint/2010/main" val="19538045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1000"/>
                                        <p:tgtEl>
                                          <p:spTgt spid="4">
                                            <p:txEl>
                                              <p:pRg st="6" end="6"/>
                                            </p:txEl>
                                          </p:spTgt>
                                        </p:tgtEl>
                                      </p:cBhvr>
                                    </p:animEffect>
                                    <p:anim calcmode="lin" valueType="num">
                                      <p:cBhvr>
                                        <p:cTn id="3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1000"/>
                                        <p:tgtEl>
                                          <p:spTgt spid="4">
                                            <p:txEl>
                                              <p:pRg st="7" end="7"/>
                                            </p:txEl>
                                          </p:spTgt>
                                        </p:tgtEl>
                                      </p:cBhvr>
                                    </p:animEffect>
                                    <p:anim calcmode="lin" valueType="num">
                                      <p:cBhvr>
                                        <p:cTn id="3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1000"/>
                                        <p:tgtEl>
                                          <p:spTgt spid="4">
                                            <p:txEl>
                                              <p:pRg st="8" end="8"/>
                                            </p:txEl>
                                          </p:spTgt>
                                        </p:tgtEl>
                                      </p:cBhvr>
                                    </p:animEffect>
                                    <p:anim calcmode="lin" valueType="num">
                                      <p:cBhvr>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animEffect transition="in" filter="fade">
                                      <p:cBhvr>
                                        <p:cTn id="47" dur="1000"/>
                                        <p:tgtEl>
                                          <p:spTgt spid="4">
                                            <p:txEl>
                                              <p:pRg st="9" end="9"/>
                                            </p:txEl>
                                          </p:spTgt>
                                        </p:tgtEl>
                                      </p:cBhvr>
                                    </p:animEffect>
                                    <p:anim calcmode="lin" valueType="num">
                                      <p:cBhvr>
                                        <p:cTn id="48"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
                                            <p:txEl>
                                              <p:pRg st="10" end="10"/>
                                            </p:txEl>
                                          </p:spTgt>
                                        </p:tgtEl>
                                        <p:attrNameLst>
                                          <p:attrName>style.visibility</p:attrName>
                                        </p:attrNameLst>
                                      </p:cBhvr>
                                      <p:to>
                                        <p:strVal val="visible"/>
                                      </p:to>
                                    </p:set>
                                    <p:animEffect transition="in" filter="fade">
                                      <p:cBhvr>
                                        <p:cTn id="52" dur="1000"/>
                                        <p:tgtEl>
                                          <p:spTgt spid="4">
                                            <p:txEl>
                                              <p:pRg st="10" end="10"/>
                                            </p:txEl>
                                          </p:spTgt>
                                        </p:tgtEl>
                                      </p:cBhvr>
                                    </p:animEffect>
                                    <p:anim calcmode="lin" valueType="num">
                                      <p:cBhvr>
                                        <p:cTn id="5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Problem Statement :</a:t>
            </a:r>
          </a:p>
        </p:txBody>
      </p:sp>
      <p:sp>
        <p:nvSpPr>
          <p:cNvPr id="4" name="Rectangle 1">
            <a:extLst>
              <a:ext uri="{FF2B5EF4-FFF2-40B4-BE49-F238E27FC236}">
                <a16:creationId xmlns:a16="http://schemas.microsoft.com/office/drawing/2014/main" id="{6230EE08-6632-FEFD-4CDD-9AC6410ECE5D}"/>
              </a:ext>
            </a:extLst>
          </p:cNvPr>
          <p:cNvSpPr>
            <a:spLocks noGrp="1" noChangeArrowheads="1"/>
          </p:cNvSpPr>
          <p:nvPr>
            <p:ph idx="1"/>
          </p:nvPr>
        </p:nvSpPr>
        <p:spPr bwMode="auto">
          <a:xfrm>
            <a:off x="551065" y="1874346"/>
            <a:ext cx="764664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Businesses struggle to understand customer behavior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No clear identification of high-value vs low-value customers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Lack of personalized marketing strategies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 customer churn due to poor engagement </a:t>
            </a:r>
          </a:p>
        </p:txBody>
      </p:sp>
      <p:pic>
        <p:nvPicPr>
          <p:cNvPr id="6" name="Picture 5">
            <a:extLst>
              <a:ext uri="{FF2B5EF4-FFF2-40B4-BE49-F238E27FC236}">
                <a16:creationId xmlns:a16="http://schemas.microsoft.com/office/drawing/2014/main" id="{4A65A5B3-CC39-4931-865E-B34C461178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50051" y="910053"/>
            <a:ext cx="4884631" cy="4884631"/>
          </a:xfrm>
          <a:prstGeom prst="rect">
            <a:avLst/>
          </a:prstGeom>
        </p:spPr>
      </p:pic>
    </p:spTree>
    <p:extLst>
      <p:ext uri="{BB962C8B-B14F-4D97-AF65-F5344CB8AC3E}">
        <p14:creationId xmlns:p14="http://schemas.microsoft.com/office/powerpoint/2010/main" val="22724594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p:cTn id="7"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p:cTn id="13"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4">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p:cTn id="19"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4">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p:cTn id="25"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6" dur="500" fill="hold"/>
                                        <p:tgtEl>
                                          <p:spTgt spid="4">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IN" dirty="0"/>
              <a:t>Objective</a:t>
            </a:r>
          </a:p>
        </p:txBody>
      </p:sp>
      <p:sp>
        <p:nvSpPr>
          <p:cNvPr id="2" name="Content Placeholder 1">
            <a:extLst>
              <a:ext uri="{FF2B5EF4-FFF2-40B4-BE49-F238E27FC236}">
                <a16:creationId xmlns:a16="http://schemas.microsoft.com/office/drawing/2014/main" id="{F3F83E76-65A1-CC8E-25A3-583EA7E0379B}"/>
              </a:ext>
            </a:extLst>
          </p:cNvPr>
          <p:cNvSpPr>
            <a:spLocks noGrp="1" noChangeArrowheads="1"/>
          </p:cNvSpPr>
          <p:nvPr>
            <p:ph idx="1"/>
          </p:nvPr>
        </p:nvSpPr>
        <p:spPr bwMode="auto">
          <a:xfrm>
            <a:off x="309880" y="1515461"/>
            <a:ext cx="578612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Segment customers based on behavior using RFM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Identify high-value and at-risk customers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Build a prediction model for customer value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Provide actionable business insights </a:t>
            </a:r>
          </a:p>
        </p:txBody>
      </p:sp>
      <p:pic>
        <p:nvPicPr>
          <p:cNvPr id="6" name="Picture 5">
            <a:extLst>
              <a:ext uri="{FF2B5EF4-FFF2-40B4-BE49-F238E27FC236}">
                <a16:creationId xmlns:a16="http://schemas.microsoft.com/office/drawing/2014/main" id="{827EE8BF-EC46-3E82-B6E4-7EEDCFFAA2C5}"/>
              </a:ext>
            </a:extLst>
          </p:cNvPr>
          <p:cNvPicPr>
            <a:picLocks noChangeAspect="1"/>
          </p:cNvPicPr>
          <p:nvPr/>
        </p:nvPicPr>
        <p:blipFill>
          <a:blip r:embed="rId2" cstate="print">
            <a:extLst>
              <a:ext uri="{28A0092B-C50C-407E-A947-70E740481C1C}">
                <a14:useLocalDpi xmlns:a14="http://schemas.microsoft.com/office/drawing/2010/main" val="0"/>
              </a:ext>
            </a:extLst>
          </a:blip>
          <a:srcRect b="6821"/>
          <a:stretch>
            <a:fillRect/>
          </a:stretch>
        </p:blipFill>
        <p:spPr>
          <a:xfrm>
            <a:off x="6212952" y="108154"/>
            <a:ext cx="5750852" cy="5358581"/>
          </a:xfrm>
          <a:prstGeom prst="rect">
            <a:avLst/>
          </a:prstGeom>
        </p:spPr>
      </p:pic>
    </p:spTree>
    <p:extLst>
      <p:ext uri="{BB962C8B-B14F-4D97-AF65-F5344CB8AC3E}">
        <p14:creationId xmlns:p14="http://schemas.microsoft.com/office/powerpoint/2010/main" val="13444202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 calcmode="lin" valueType="num">
                                      <p:cBhvr>
                                        <p:cTn id="21"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 calcmode="lin" valueType="num">
                                      <p:cBhvr>
                                        <p:cTn id="28"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a:xfrm>
            <a:off x="4455265" y="406462"/>
            <a:ext cx="7057847" cy="612775"/>
          </a:xfrm>
        </p:spPr>
        <p:txBody>
          <a:bodyPr/>
          <a:lstStyle/>
          <a:p>
            <a:r>
              <a:rPr lang="en-IN" dirty="0"/>
              <a:t>Dataset Overview</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a:xfrm>
            <a:off x="4455263" y="1019237"/>
            <a:ext cx="7057847" cy="2866461"/>
          </a:xfrm>
        </p:spPr>
        <p:txBody>
          <a:bodyPr>
            <a:normAutofit fontScale="92500" lnSpcReduction="10000"/>
          </a:bodyPr>
          <a:lstStyle/>
          <a:p>
            <a:r>
              <a:rPr lang="en-US" dirty="0"/>
              <a:t>Transactional E-commerce Data </a:t>
            </a:r>
          </a:p>
          <a:p>
            <a:r>
              <a:rPr lang="en-US" dirty="0"/>
              <a:t>Features include: </a:t>
            </a:r>
          </a:p>
          <a:p>
            <a:pPr lvl="1"/>
            <a:r>
              <a:rPr lang="en-US" dirty="0" err="1"/>
              <a:t>InvoiceNo</a:t>
            </a:r>
            <a:r>
              <a:rPr lang="en-US" dirty="0"/>
              <a:t> (Transaction ID) </a:t>
            </a:r>
          </a:p>
          <a:p>
            <a:pPr lvl="1"/>
            <a:r>
              <a:rPr lang="en-US" dirty="0"/>
              <a:t>Product Description </a:t>
            </a:r>
          </a:p>
          <a:p>
            <a:pPr lvl="1"/>
            <a:r>
              <a:rPr lang="en-US" dirty="0"/>
              <a:t>Quantity &amp; Price </a:t>
            </a:r>
          </a:p>
          <a:p>
            <a:pPr lvl="1"/>
            <a:r>
              <a:rPr lang="en-US" dirty="0"/>
              <a:t>Customer ID </a:t>
            </a:r>
          </a:p>
          <a:p>
            <a:pPr lvl="1"/>
            <a:r>
              <a:rPr lang="en-US" dirty="0"/>
              <a:t>Country </a:t>
            </a:r>
          </a:p>
          <a:p>
            <a:pPr lvl="1"/>
            <a:r>
              <a:rPr lang="en-US" dirty="0"/>
              <a:t>Dataset Size : </a:t>
            </a:r>
            <a:r>
              <a:rPr lang="en-IN" dirty="0"/>
              <a:t>541909 rows including Null Values</a:t>
            </a:r>
            <a:endParaRPr lang="en-US" dirty="0"/>
          </a:p>
        </p:txBody>
      </p:sp>
      <p:sp>
        <p:nvSpPr>
          <p:cNvPr id="8" name="Title 3">
            <a:extLst>
              <a:ext uri="{FF2B5EF4-FFF2-40B4-BE49-F238E27FC236}">
                <a16:creationId xmlns:a16="http://schemas.microsoft.com/office/drawing/2014/main" id="{A9244A07-D19E-07E0-571F-97662695B9BB}"/>
              </a:ext>
            </a:extLst>
          </p:cNvPr>
          <p:cNvSpPr txBox="1">
            <a:spLocks/>
          </p:cNvSpPr>
          <p:nvPr/>
        </p:nvSpPr>
        <p:spPr>
          <a:xfrm>
            <a:off x="4455265" y="3987209"/>
            <a:ext cx="7057847"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IN" dirty="0"/>
              <a:t>Derived Features</a:t>
            </a:r>
          </a:p>
        </p:txBody>
      </p:sp>
      <p:sp>
        <p:nvSpPr>
          <p:cNvPr id="17" name="Content Placeholder 4">
            <a:extLst>
              <a:ext uri="{FF2B5EF4-FFF2-40B4-BE49-F238E27FC236}">
                <a16:creationId xmlns:a16="http://schemas.microsoft.com/office/drawing/2014/main" id="{7A4D6086-7245-3AF0-CC46-098D91493A01}"/>
              </a:ext>
            </a:extLst>
          </p:cNvPr>
          <p:cNvSpPr txBox="1">
            <a:spLocks/>
          </p:cNvSpPr>
          <p:nvPr/>
        </p:nvSpPr>
        <p:spPr>
          <a:xfrm>
            <a:off x="4455265" y="4599984"/>
            <a:ext cx="6613228" cy="15451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Recency</a:t>
            </a:r>
            <a:r>
              <a:rPr lang="en-US" dirty="0"/>
              <a:t> – Days since last purchase </a:t>
            </a:r>
          </a:p>
          <a:p>
            <a:r>
              <a:rPr lang="en-US" b="1" dirty="0"/>
              <a:t>Frequency</a:t>
            </a:r>
            <a:r>
              <a:rPr lang="en-US" dirty="0"/>
              <a:t> – Total number of purchases </a:t>
            </a:r>
          </a:p>
          <a:p>
            <a:r>
              <a:rPr lang="en-US" b="1" dirty="0"/>
              <a:t>Monetary</a:t>
            </a:r>
            <a:r>
              <a:rPr lang="en-US" dirty="0"/>
              <a:t> – Total spend</a:t>
            </a:r>
          </a:p>
          <a:p>
            <a:endParaRPr lang="en-IN" dirty="0"/>
          </a:p>
        </p:txBody>
      </p:sp>
      <p:pic>
        <p:nvPicPr>
          <p:cNvPr id="19" name="Picture 18">
            <a:extLst>
              <a:ext uri="{FF2B5EF4-FFF2-40B4-BE49-F238E27FC236}">
                <a16:creationId xmlns:a16="http://schemas.microsoft.com/office/drawing/2014/main" id="{D920338C-14F4-5ED2-29DD-277183A520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560445"/>
            <a:ext cx="3737110" cy="3737110"/>
          </a:xfrm>
          <a:prstGeom prst="rect">
            <a:avLst/>
          </a:prstGeom>
        </p:spPr>
      </p:pic>
    </p:spTree>
    <p:extLst>
      <p:ext uri="{BB962C8B-B14F-4D97-AF65-F5344CB8AC3E}">
        <p14:creationId xmlns:p14="http://schemas.microsoft.com/office/powerpoint/2010/main" val="15943652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p:cTn id="11"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p:cTn id="17"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5">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 calcmode="lin" valueType="num">
                                      <p:cBhvr>
                                        <p:cTn id="21"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5">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p:cTn id="25"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5">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p:cTn id="29" dur="500" fill="hold"/>
                                        <p:tgtEl>
                                          <p:spTgt spid="5">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5">
                                            <p:txEl>
                                              <p:pRg st="4" end="4"/>
                                            </p:txEl>
                                          </p:spTgt>
                                        </p:tgtEl>
                                        <p:attrNameLst>
                                          <p:attrName>ppt_h</p:attrName>
                                        </p:attrNameLst>
                                      </p:cBhvr>
                                      <p:tavLst>
                                        <p:tav tm="0">
                                          <p:val>
                                            <p:fltVal val="0"/>
                                          </p:val>
                                        </p:tav>
                                        <p:tav tm="100000">
                                          <p:val>
                                            <p:strVal val="#ppt_h"/>
                                          </p:val>
                                        </p:tav>
                                      </p:tavLst>
                                    </p:anim>
                                  </p:childTnLst>
                                </p:cTn>
                              </p:par>
                              <p:par>
                                <p:cTn id="31" presetID="23" presetClass="entr" presetSubtype="16" fill="hold" grpId="0"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 calcmode="lin" valueType="num">
                                      <p:cBhvr>
                                        <p:cTn id="33" dur="500" fill="hold"/>
                                        <p:tgtEl>
                                          <p:spTgt spid="5">
                                            <p:txEl>
                                              <p:pRg st="5" end="5"/>
                                            </p:txEl>
                                          </p:spTgt>
                                        </p:tgtEl>
                                        <p:attrNameLst>
                                          <p:attrName>ppt_w</p:attrName>
                                        </p:attrNameLst>
                                      </p:cBhvr>
                                      <p:tavLst>
                                        <p:tav tm="0">
                                          <p:val>
                                            <p:fltVal val="0"/>
                                          </p:val>
                                        </p:tav>
                                        <p:tav tm="100000">
                                          <p:val>
                                            <p:strVal val="#ppt_w"/>
                                          </p:val>
                                        </p:tav>
                                      </p:tavLst>
                                    </p:anim>
                                    <p:anim calcmode="lin" valueType="num">
                                      <p:cBhvr>
                                        <p:cTn id="34" dur="500" fill="hold"/>
                                        <p:tgtEl>
                                          <p:spTgt spid="5">
                                            <p:txEl>
                                              <p:pRg st="5" end="5"/>
                                            </p:txEl>
                                          </p:spTgt>
                                        </p:tgtEl>
                                        <p:attrNameLst>
                                          <p:attrName>ppt_h</p:attrName>
                                        </p:attrNameLst>
                                      </p:cBhvr>
                                      <p:tavLst>
                                        <p:tav tm="0">
                                          <p:val>
                                            <p:fltVal val="0"/>
                                          </p:val>
                                        </p:tav>
                                        <p:tav tm="100000">
                                          <p:val>
                                            <p:strVal val="#ppt_h"/>
                                          </p:val>
                                        </p:tav>
                                      </p:tavLst>
                                    </p:anim>
                                  </p:childTnLst>
                                </p:cTn>
                              </p:par>
                              <p:par>
                                <p:cTn id="35" presetID="23" presetClass="entr" presetSubtype="16" fill="hold" grpId="0"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p:cTn id="37" dur="500" fill="hold"/>
                                        <p:tgtEl>
                                          <p:spTgt spid="5">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5">
                                            <p:txEl>
                                              <p:pRg st="6" end="6"/>
                                            </p:txEl>
                                          </p:spTgt>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 calcmode="lin" valueType="num">
                                      <p:cBhvr>
                                        <p:cTn id="41" dur="500" fill="hold"/>
                                        <p:tgtEl>
                                          <p:spTgt spid="5">
                                            <p:txEl>
                                              <p:pRg st="7" end="7"/>
                                            </p:txEl>
                                          </p:spTgt>
                                        </p:tgtEl>
                                        <p:attrNameLst>
                                          <p:attrName>ppt_w</p:attrName>
                                        </p:attrNameLst>
                                      </p:cBhvr>
                                      <p:tavLst>
                                        <p:tav tm="0">
                                          <p:val>
                                            <p:fltVal val="0"/>
                                          </p:val>
                                        </p:tav>
                                        <p:tav tm="100000">
                                          <p:val>
                                            <p:strVal val="#ppt_w"/>
                                          </p:val>
                                        </p:tav>
                                      </p:tavLst>
                                    </p:anim>
                                    <p:anim calcmode="lin" valueType="num">
                                      <p:cBhvr>
                                        <p:cTn id="42" dur="500" fill="hold"/>
                                        <p:tgtEl>
                                          <p:spTgt spid="5">
                                            <p:txEl>
                                              <p:pRg st="7" end="7"/>
                                            </p:txEl>
                                          </p:spTgt>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p:cTn id="47" dur="500" fill="hold"/>
                                        <p:tgtEl>
                                          <p:spTgt spid="8"/>
                                        </p:tgtEl>
                                        <p:attrNameLst>
                                          <p:attrName>ppt_w</p:attrName>
                                        </p:attrNameLst>
                                      </p:cBhvr>
                                      <p:tavLst>
                                        <p:tav tm="0">
                                          <p:val>
                                            <p:fltVal val="0"/>
                                          </p:val>
                                        </p:tav>
                                        <p:tav tm="100000">
                                          <p:val>
                                            <p:strVal val="#ppt_w"/>
                                          </p:val>
                                        </p:tav>
                                      </p:tavLst>
                                    </p:anim>
                                    <p:anim calcmode="lin" valueType="num">
                                      <p:cBhvr>
                                        <p:cTn id="48" dur="500" fill="hold"/>
                                        <p:tgtEl>
                                          <p:spTgt spid="8"/>
                                        </p:tgtEl>
                                        <p:attrNameLst>
                                          <p:attrName>ppt_h</p:attrName>
                                        </p:attrNameLst>
                                      </p:cBhvr>
                                      <p:tavLst>
                                        <p:tav tm="0">
                                          <p:val>
                                            <p:fltVal val="0"/>
                                          </p:val>
                                        </p:tav>
                                        <p:tav tm="100000">
                                          <p:val>
                                            <p:strVal val="#ppt_h"/>
                                          </p:val>
                                        </p:tav>
                                      </p:tavLst>
                                    </p:anim>
                                  </p:childTnLst>
                                </p:cTn>
                              </p:par>
                              <p:par>
                                <p:cTn id="49" presetID="23" presetClass="entr" presetSubtype="16"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p:cTn id="51" dur="500" fill="hold"/>
                                        <p:tgtEl>
                                          <p:spTgt spid="17"/>
                                        </p:tgtEl>
                                        <p:attrNameLst>
                                          <p:attrName>ppt_w</p:attrName>
                                        </p:attrNameLst>
                                      </p:cBhvr>
                                      <p:tavLst>
                                        <p:tav tm="0">
                                          <p:val>
                                            <p:fltVal val="0"/>
                                          </p:val>
                                        </p:tav>
                                        <p:tav tm="100000">
                                          <p:val>
                                            <p:strVal val="#ppt_w"/>
                                          </p:val>
                                        </p:tav>
                                      </p:tavLst>
                                    </p:anim>
                                    <p:anim calcmode="lin" valueType="num">
                                      <p:cBhvr>
                                        <p:cTn id="52"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8"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IN" dirty="0"/>
              <a:t>Methodology</a:t>
            </a:r>
            <a:endParaRPr lang="en-US" dirty="0"/>
          </a:p>
        </p:txBody>
      </p:sp>
      <p:sp>
        <p:nvSpPr>
          <p:cNvPr id="9" name="Rectangle 6">
            <a:extLst>
              <a:ext uri="{FF2B5EF4-FFF2-40B4-BE49-F238E27FC236}">
                <a16:creationId xmlns:a16="http://schemas.microsoft.com/office/drawing/2014/main" id="{1D582A4F-8B2C-A789-3B7D-641D27A8064F}"/>
              </a:ext>
            </a:extLst>
          </p:cNvPr>
          <p:cNvSpPr>
            <a:spLocks noGrp="1" noChangeArrowheads="1"/>
          </p:cNvSpPr>
          <p:nvPr>
            <p:ph idx="1"/>
          </p:nvPr>
        </p:nvSpPr>
        <p:spPr bwMode="auto">
          <a:xfrm>
            <a:off x="678884" y="1219636"/>
            <a:ext cx="440347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n-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cs typeface="Arial" panose="020B0604020202020204" pitchFamily="34" charset="0"/>
              </a:rPr>
              <a:t>Data Cleaning &amp; Preprocessing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cs typeface="Arial" panose="020B0604020202020204" pitchFamily="34" charset="0"/>
              </a:rPr>
              <a:t>Feature Engineering (RFM)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cs typeface="Arial" panose="020B0604020202020204" pitchFamily="34" charset="0"/>
              </a:rPr>
              <a:t>Scaling of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cs typeface="Arial" panose="020B0604020202020204" pitchFamily="34" charset="0"/>
              </a:rPr>
              <a:t>K-Means</a:t>
            </a:r>
            <a:r>
              <a:rPr lang="en-US" altLang="en-US" sz="2000" b="1" dirty="0">
                <a:solidFill>
                  <a:schemeClr val="tx1"/>
                </a:solidFill>
                <a:latin typeface="+mn-lt"/>
                <a:cs typeface="Arial" panose="020B0604020202020204" pitchFamily="34" charset="0"/>
              </a:rPr>
              <a:t>, Hierarchical, </a:t>
            </a:r>
            <a:r>
              <a:rPr lang="en-US" altLang="en-US" sz="2000" b="1" dirty="0" err="1">
                <a:solidFill>
                  <a:schemeClr val="tx1"/>
                </a:solidFill>
                <a:latin typeface="+mn-lt"/>
                <a:cs typeface="Arial" panose="020B0604020202020204" pitchFamily="34" charset="0"/>
              </a:rPr>
              <a:t>Dbscan</a:t>
            </a:r>
            <a:r>
              <a:rPr lang="en-US" altLang="en-US" sz="2000" b="1" dirty="0">
                <a:solidFill>
                  <a:schemeClr val="tx1"/>
                </a:solidFill>
                <a:latin typeface="+mn-lt"/>
                <a:cs typeface="Arial" panose="020B0604020202020204" pitchFamily="34" charset="0"/>
              </a:rPr>
              <a:t>    Clustering </a:t>
            </a:r>
            <a:r>
              <a:rPr kumimoji="0" lang="en-US" altLang="en-US" sz="2000" b="1" i="0" u="none" strike="noStrike" cap="none" normalizeH="0" baseline="0" dirty="0">
                <a:ln>
                  <a:noFill/>
                </a:ln>
                <a:solidFill>
                  <a:schemeClr val="tx1"/>
                </a:solidFill>
                <a:effectLst/>
                <a:latin typeface="+mn-lt"/>
                <a:cs typeface="Arial" panose="020B0604020202020204" pitchFamily="34" charset="0"/>
              </a:rPr>
              <a:t> for segmentation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cs typeface="Arial" panose="020B0604020202020204" pitchFamily="34" charset="0"/>
              </a:rPr>
              <a:t>Classification Model for prediction </a:t>
            </a:r>
          </a:p>
        </p:txBody>
      </p:sp>
      <p:pic>
        <p:nvPicPr>
          <p:cNvPr id="11" name="Picture 10">
            <a:extLst>
              <a:ext uri="{FF2B5EF4-FFF2-40B4-BE49-F238E27FC236}">
                <a16:creationId xmlns:a16="http://schemas.microsoft.com/office/drawing/2014/main" id="{FDC705EA-E24B-CBA2-D33E-3FC0017A47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7182" y="1220298"/>
            <a:ext cx="7007741" cy="4671827"/>
          </a:xfrm>
          <a:prstGeom prst="rect">
            <a:avLst/>
          </a:prstGeom>
        </p:spPr>
      </p:pic>
    </p:spTree>
    <p:extLst>
      <p:ext uri="{BB962C8B-B14F-4D97-AF65-F5344CB8AC3E}">
        <p14:creationId xmlns:p14="http://schemas.microsoft.com/office/powerpoint/2010/main" val="28459924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fade">
                                      <p:cBhvr>
                                        <p:cTn id="20" dur="500"/>
                                        <p:tgtEl>
                                          <p:spTgt spid="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Effect transition="in" filter="fade">
                                      <p:cBhvr>
                                        <p:cTn id="25" dur="500"/>
                                        <p:tgtEl>
                                          <p:spTgt spid="9">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xEl>
                                              <p:pRg st="5" end="5"/>
                                            </p:txEl>
                                          </p:spTgt>
                                        </p:tgtEl>
                                        <p:attrNameLst>
                                          <p:attrName>style.visibility</p:attrName>
                                        </p:attrNameLst>
                                      </p:cBhvr>
                                      <p:to>
                                        <p:strVal val="visible"/>
                                      </p:to>
                                    </p:set>
                                    <p:animEffect transition="in" filter="fade">
                                      <p:cBhvr>
                                        <p:cTn id="30"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33E50-2293-0F03-50A5-7DB7FFF535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582CAB-A5F6-DE17-F946-9C530B949C9A}"/>
              </a:ext>
            </a:extLst>
          </p:cNvPr>
          <p:cNvSpPr>
            <a:spLocks noGrp="1"/>
          </p:cNvSpPr>
          <p:nvPr>
            <p:ph type="title"/>
          </p:nvPr>
        </p:nvSpPr>
        <p:spPr>
          <a:xfrm>
            <a:off x="277533" y="420621"/>
            <a:ext cx="5424613" cy="612775"/>
          </a:xfrm>
        </p:spPr>
        <p:txBody>
          <a:bodyPr>
            <a:noAutofit/>
          </a:bodyPr>
          <a:lstStyle/>
          <a:p>
            <a:pPr algn="ctr"/>
            <a:r>
              <a:rPr lang="en-IN" dirty="0"/>
              <a:t>Exploratory Data Analysis (EDA)</a:t>
            </a:r>
          </a:p>
        </p:txBody>
      </p:sp>
      <p:pic>
        <p:nvPicPr>
          <p:cNvPr id="8" name="Picture 7">
            <a:extLst>
              <a:ext uri="{FF2B5EF4-FFF2-40B4-BE49-F238E27FC236}">
                <a16:creationId xmlns:a16="http://schemas.microsoft.com/office/drawing/2014/main" id="{B0DC6E40-1F52-EE49-9C5B-8296771D8C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256" y="1365016"/>
            <a:ext cx="4839375" cy="3915321"/>
          </a:xfrm>
          <a:prstGeom prst="rect">
            <a:avLst/>
          </a:prstGeom>
        </p:spPr>
      </p:pic>
      <p:pic>
        <p:nvPicPr>
          <p:cNvPr id="10" name="Picture 9">
            <a:extLst>
              <a:ext uri="{FF2B5EF4-FFF2-40B4-BE49-F238E27FC236}">
                <a16:creationId xmlns:a16="http://schemas.microsoft.com/office/drawing/2014/main" id="{2D695DB9-EDC6-4648-4CBD-40DAF67C8FF8}"/>
              </a:ext>
            </a:extLst>
          </p:cNvPr>
          <p:cNvPicPr>
            <a:picLocks noChangeAspect="1"/>
          </p:cNvPicPr>
          <p:nvPr/>
        </p:nvPicPr>
        <p:blipFill>
          <a:blip r:embed="rId3"/>
          <a:stretch>
            <a:fillRect/>
          </a:stretch>
        </p:blipFill>
        <p:spPr>
          <a:xfrm>
            <a:off x="6642798" y="727009"/>
            <a:ext cx="4904611" cy="3774978"/>
          </a:xfrm>
          <a:prstGeom prst="rect">
            <a:avLst/>
          </a:prstGeom>
        </p:spPr>
      </p:pic>
      <p:sp>
        <p:nvSpPr>
          <p:cNvPr id="15" name="Title 3">
            <a:extLst>
              <a:ext uri="{FF2B5EF4-FFF2-40B4-BE49-F238E27FC236}">
                <a16:creationId xmlns:a16="http://schemas.microsoft.com/office/drawing/2014/main" id="{948E57B9-7389-1B2E-B24D-983BD281B1D1}"/>
              </a:ext>
            </a:extLst>
          </p:cNvPr>
          <p:cNvSpPr txBox="1">
            <a:spLocks/>
          </p:cNvSpPr>
          <p:nvPr/>
        </p:nvSpPr>
        <p:spPr>
          <a:xfrm>
            <a:off x="6248944" y="114234"/>
            <a:ext cx="5424613" cy="612775"/>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a:r>
              <a:rPr lang="en-IN" dirty="0">
                <a:solidFill>
                  <a:schemeClr val="bg1"/>
                </a:solidFill>
              </a:rPr>
              <a:t>RFM Analysis </a:t>
            </a:r>
          </a:p>
        </p:txBody>
      </p:sp>
      <p:sp>
        <p:nvSpPr>
          <p:cNvPr id="17" name="TextBox 16">
            <a:extLst>
              <a:ext uri="{FF2B5EF4-FFF2-40B4-BE49-F238E27FC236}">
                <a16:creationId xmlns:a16="http://schemas.microsoft.com/office/drawing/2014/main" id="{FF3D9F24-D96C-E059-1CA8-7F37CC5BF2C2}"/>
              </a:ext>
            </a:extLst>
          </p:cNvPr>
          <p:cNvSpPr txBox="1"/>
          <p:nvPr/>
        </p:nvSpPr>
        <p:spPr>
          <a:xfrm>
            <a:off x="6248944" y="4653663"/>
            <a:ext cx="6103088" cy="1477328"/>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latin typeface="Arial" panose="020B0604020202020204" pitchFamily="34" charset="0"/>
              </a:rPr>
              <a:t>Log transform used to reduce skewness </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latin typeface="Arial" panose="020B0604020202020204" pitchFamily="34" charset="0"/>
              </a:rPr>
              <a:t>Monetary has highest spread → revenue varies most </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latin typeface="Arial" panose="020B0604020202020204" pitchFamily="34" charset="0"/>
              </a:rPr>
              <a:t>Outliers = high-value customers </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latin typeface="Arial" panose="020B0604020202020204" pitchFamily="34" charset="0"/>
              </a:rPr>
              <a:t>Frequency shows some heavy buyers </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1"/>
                </a:solidFill>
                <a:latin typeface="Arial" panose="020B0604020202020204" pitchFamily="34" charset="0"/>
              </a:rPr>
              <a:t>Recency is relatively stable </a:t>
            </a:r>
          </a:p>
        </p:txBody>
      </p:sp>
    </p:spTree>
    <p:extLst>
      <p:ext uri="{BB962C8B-B14F-4D97-AF65-F5344CB8AC3E}">
        <p14:creationId xmlns:p14="http://schemas.microsoft.com/office/powerpoint/2010/main" val="10932122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42A71-E824-056A-DEEE-60C636D57E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CEF159-421D-29B3-D2CF-42EE54E5EE4B}"/>
              </a:ext>
            </a:extLst>
          </p:cNvPr>
          <p:cNvSpPr>
            <a:spLocks noGrp="1"/>
          </p:cNvSpPr>
          <p:nvPr>
            <p:ph type="title"/>
          </p:nvPr>
        </p:nvSpPr>
        <p:spPr/>
        <p:txBody>
          <a:bodyPr>
            <a:normAutofit/>
          </a:bodyPr>
          <a:lstStyle/>
          <a:p>
            <a:r>
              <a:rPr lang="en-IN" dirty="0"/>
              <a:t>Why K-means Cluster</a:t>
            </a:r>
            <a:endParaRPr lang="en-US" dirty="0"/>
          </a:p>
        </p:txBody>
      </p:sp>
      <p:sp>
        <p:nvSpPr>
          <p:cNvPr id="9" name="Rectangle 6">
            <a:extLst>
              <a:ext uri="{FF2B5EF4-FFF2-40B4-BE49-F238E27FC236}">
                <a16:creationId xmlns:a16="http://schemas.microsoft.com/office/drawing/2014/main" id="{F1EC059E-0C14-EA16-A252-95DB5CA65868}"/>
              </a:ext>
            </a:extLst>
          </p:cNvPr>
          <p:cNvSpPr>
            <a:spLocks noGrp="1" noChangeArrowheads="1"/>
          </p:cNvSpPr>
          <p:nvPr>
            <p:ph idx="1"/>
          </p:nvPr>
        </p:nvSpPr>
        <p:spPr bwMode="auto">
          <a:xfrm>
            <a:off x="678884" y="3830701"/>
            <a:ext cx="4994329" cy="1449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1800" b="1" dirty="0"/>
              <a:t>Why NOT Hierarchical Clustering</a:t>
            </a:r>
            <a:endParaRPr lang="en-US" sz="2000" b="1" dirty="0">
              <a:solidFill>
                <a:schemeClr val="tx1"/>
              </a:solidFill>
              <a:latin typeface="+mn-lt"/>
              <a:cs typeface="Arial" panose="020B0604020202020204" pitchFamily="34" charset="0"/>
            </a:endParaRPr>
          </a:p>
          <a:p>
            <a:pPr eaLnBrk="0" fontAlgn="base" hangingPunct="0">
              <a:lnSpc>
                <a:spcPct val="100000"/>
              </a:lnSpc>
              <a:spcBef>
                <a:spcPct val="0"/>
              </a:spcBef>
              <a:spcAft>
                <a:spcPct val="0"/>
              </a:spcAft>
            </a:pPr>
            <a:r>
              <a:rPr lang="en-US" altLang="en-US" sz="1800" dirty="0">
                <a:solidFill>
                  <a:schemeClr val="tx1"/>
                </a:solidFill>
                <a:latin typeface="Arial" panose="020B0604020202020204" pitchFamily="34" charset="0"/>
              </a:rPr>
              <a:t>Lower performance (lower silhouette score) </a:t>
            </a:r>
          </a:p>
          <a:p>
            <a:pPr eaLnBrk="0" fontAlgn="base" hangingPunct="0">
              <a:lnSpc>
                <a:spcPct val="100000"/>
              </a:lnSpc>
              <a:spcBef>
                <a:spcPct val="0"/>
              </a:spcBef>
              <a:spcAft>
                <a:spcPct val="0"/>
              </a:spcAft>
            </a:pPr>
            <a:r>
              <a:rPr lang="en-US" altLang="en-US" sz="1800" dirty="0">
                <a:solidFill>
                  <a:schemeClr val="tx1"/>
                </a:solidFill>
                <a:latin typeface="Arial" panose="020B0604020202020204" pitchFamily="34" charset="0"/>
              </a:rPr>
              <a:t>Computationally expensive for large datasets </a:t>
            </a:r>
          </a:p>
          <a:p>
            <a:pPr eaLnBrk="0" fontAlgn="base" hangingPunct="0">
              <a:lnSpc>
                <a:spcPct val="100000"/>
              </a:lnSpc>
              <a:spcBef>
                <a:spcPct val="0"/>
              </a:spcBef>
              <a:spcAft>
                <a:spcPct val="0"/>
              </a:spcAft>
            </a:pPr>
            <a:r>
              <a:rPr lang="en-US" altLang="en-US" sz="1800" dirty="0">
                <a:solidFill>
                  <a:schemeClr val="tx1"/>
                </a:solidFill>
                <a:latin typeface="Arial" panose="020B0604020202020204" pitchFamily="34" charset="0"/>
              </a:rPr>
              <a:t>Difficult to scale </a:t>
            </a:r>
          </a:p>
          <a:p>
            <a:pPr eaLnBrk="0" fontAlgn="base" hangingPunct="0">
              <a:lnSpc>
                <a:spcPct val="100000"/>
              </a:lnSpc>
              <a:spcBef>
                <a:spcPct val="0"/>
              </a:spcBef>
              <a:spcAft>
                <a:spcPct val="0"/>
              </a:spcAft>
            </a:pPr>
            <a:r>
              <a:rPr lang="en-US" altLang="en-US" sz="1800" dirty="0">
                <a:solidFill>
                  <a:schemeClr val="tx1"/>
                </a:solidFill>
                <a:latin typeface="Arial" panose="020B0604020202020204" pitchFamily="34" charset="0"/>
              </a:rPr>
              <a:t>Hard to define optimal number of clusters </a:t>
            </a:r>
          </a:p>
        </p:txBody>
      </p:sp>
      <p:sp>
        <p:nvSpPr>
          <p:cNvPr id="2" name="TextBox 1">
            <a:extLst>
              <a:ext uri="{FF2B5EF4-FFF2-40B4-BE49-F238E27FC236}">
                <a16:creationId xmlns:a16="http://schemas.microsoft.com/office/drawing/2014/main" id="{92BA4177-F0C8-9A16-E60C-7EDCC436EA75}"/>
              </a:ext>
            </a:extLst>
          </p:cNvPr>
          <p:cNvSpPr txBox="1"/>
          <p:nvPr/>
        </p:nvSpPr>
        <p:spPr>
          <a:xfrm>
            <a:off x="464410" y="1452880"/>
            <a:ext cx="6693474" cy="1477328"/>
          </a:xfrm>
          <a:prstGeom prst="rect">
            <a:avLst/>
          </a:prstGeom>
          <a:noFill/>
        </p:spPr>
        <p:txBody>
          <a:bodyPr wrap="square" rtlCol="0">
            <a:spAutoFit/>
          </a:bodyPr>
          <a:lstStyle/>
          <a:p>
            <a:pPr marL="285750" indent="-285750">
              <a:buFont typeface="Arial" panose="020B0604020202020204" pitchFamily="34" charset="0"/>
              <a:buChar char="•"/>
            </a:pPr>
            <a:r>
              <a:rPr lang="en-IN" dirty="0"/>
              <a:t>Provides </a:t>
            </a:r>
            <a:r>
              <a:rPr lang="en-IN" b="1" dirty="0"/>
              <a:t>clear and well-defined customer segments</a:t>
            </a:r>
            <a:r>
              <a:rPr lang="en-IN" dirty="0"/>
              <a:t> </a:t>
            </a:r>
          </a:p>
          <a:p>
            <a:pPr marL="285750" indent="-285750">
              <a:buFont typeface="Arial" panose="020B0604020202020204" pitchFamily="34" charset="0"/>
              <a:buChar char="•"/>
            </a:pPr>
            <a:r>
              <a:rPr lang="en-IN" dirty="0"/>
              <a:t>Easy to interpret for business (High Value, At Risk, Regular) </a:t>
            </a:r>
          </a:p>
          <a:p>
            <a:pPr marL="285750" indent="-285750">
              <a:buFont typeface="Arial" panose="020B0604020202020204" pitchFamily="34" charset="0"/>
              <a:buChar char="•"/>
            </a:pPr>
            <a:r>
              <a:rPr lang="en-IN" dirty="0"/>
              <a:t>Produces </a:t>
            </a:r>
            <a:r>
              <a:rPr lang="en-IN" b="1" dirty="0"/>
              <a:t>fixed number of clusters</a:t>
            </a:r>
            <a:r>
              <a:rPr lang="en-IN" dirty="0"/>
              <a:t> (useful for marketing strategies) </a:t>
            </a:r>
          </a:p>
          <a:p>
            <a:pPr marL="285750" indent="-285750">
              <a:buFont typeface="Arial" panose="020B0604020202020204" pitchFamily="34" charset="0"/>
              <a:buChar char="•"/>
            </a:pPr>
            <a:r>
              <a:rPr lang="en-IN" dirty="0"/>
              <a:t>Works well with </a:t>
            </a:r>
            <a:r>
              <a:rPr lang="en-IN" b="1" dirty="0"/>
              <a:t>RFM features (Recency, Frequency, Monetary)</a:t>
            </a:r>
            <a:r>
              <a:rPr lang="en-IN" dirty="0"/>
              <a:t> </a:t>
            </a:r>
          </a:p>
          <a:p>
            <a:pPr marL="285750" indent="-285750">
              <a:buFont typeface="Arial" panose="020B0604020202020204" pitchFamily="34" charset="0"/>
              <a:buChar char="•"/>
            </a:pPr>
            <a:r>
              <a:rPr lang="en-IN" dirty="0"/>
              <a:t>Scalable for large datasets </a:t>
            </a:r>
          </a:p>
        </p:txBody>
      </p:sp>
      <p:sp>
        <p:nvSpPr>
          <p:cNvPr id="3" name="TextBox 2">
            <a:extLst>
              <a:ext uri="{FF2B5EF4-FFF2-40B4-BE49-F238E27FC236}">
                <a16:creationId xmlns:a16="http://schemas.microsoft.com/office/drawing/2014/main" id="{156D492D-4771-B24A-40F9-2B98A0DC9573}"/>
              </a:ext>
            </a:extLst>
          </p:cNvPr>
          <p:cNvSpPr txBox="1"/>
          <p:nvPr/>
        </p:nvSpPr>
        <p:spPr>
          <a:xfrm>
            <a:off x="6733263" y="3526003"/>
            <a:ext cx="4647426" cy="1754326"/>
          </a:xfrm>
          <a:prstGeom prst="rect">
            <a:avLst/>
          </a:prstGeom>
          <a:noFill/>
        </p:spPr>
        <p:txBody>
          <a:bodyPr wrap="none" rtlCol="0">
            <a:spAutoFit/>
          </a:bodyPr>
          <a:lstStyle/>
          <a:p>
            <a:r>
              <a:rPr lang="en-IN" b="1" dirty="0"/>
              <a:t>Why NOT DBSCAN</a:t>
            </a:r>
          </a:p>
          <a:p>
            <a:pPr marL="285750" indent="-285750">
              <a:buFont typeface="Arial" panose="020B0604020202020204" pitchFamily="34" charset="0"/>
              <a:buChar char="•"/>
            </a:pPr>
            <a:r>
              <a:rPr lang="en-IN" dirty="0"/>
              <a:t>Generates </a:t>
            </a:r>
            <a:r>
              <a:rPr lang="en-IN" b="1" dirty="0"/>
              <a:t>noise points (-1 cluster)</a:t>
            </a:r>
            <a:r>
              <a:rPr lang="en-IN" dirty="0"/>
              <a:t> </a:t>
            </a:r>
          </a:p>
          <a:p>
            <a:pPr marL="285750" indent="-285750">
              <a:buFont typeface="Arial" panose="020B0604020202020204" pitchFamily="34" charset="0"/>
              <a:buChar char="•"/>
            </a:pPr>
            <a:r>
              <a:rPr lang="en-IN" dirty="0"/>
              <a:t>Clusters are </a:t>
            </a:r>
            <a:r>
              <a:rPr lang="en-IN" b="1" dirty="0"/>
              <a:t>inconsistent and unpredictable</a:t>
            </a:r>
            <a:r>
              <a:rPr lang="en-IN" dirty="0"/>
              <a:t> </a:t>
            </a:r>
          </a:p>
          <a:p>
            <a:pPr marL="285750" indent="-285750">
              <a:buFont typeface="Arial" panose="020B0604020202020204" pitchFamily="34" charset="0"/>
              <a:buChar char="•"/>
            </a:pPr>
            <a:r>
              <a:rPr lang="en-IN" dirty="0"/>
              <a:t>Difficult to explain to business stakeholders </a:t>
            </a:r>
          </a:p>
          <a:p>
            <a:pPr marL="285750" indent="-285750">
              <a:buFont typeface="Arial" panose="020B0604020202020204" pitchFamily="34" charset="0"/>
              <a:buChar char="•"/>
            </a:pPr>
            <a:r>
              <a:rPr lang="en-IN" dirty="0"/>
              <a:t>Not suitable for structured segmentation </a:t>
            </a:r>
          </a:p>
          <a:p>
            <a:endParaRPr lang="en-IN" dirty="0"/>
          </a:p>
        </p:txBody>
      </p:sp>
      <p:pic>
        <p:nvPicPr>
          <p:cNvPr id="10" name="Picture 9">
            <a:extLst>
              <a:ext uri="{FF2B5EF4-FFF2-40B4-BE49-F238E27FC236}">
                <a16:creationId xmlns:a16="http://schemas.microsoft.com/office/drawing/2014/main" id="{510437AE-26FF-D352-033F-A66AB3A8FE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3922" y="1669862"/>
            <a:ext cx="5096586" cy="790685"/>
          </a:xfrm>
          <a:prstGeom prst="rect">
            <a:avLst/>
          </a:prstGeom>
        </p:spPr>
      </p:pic>
    </p:spTree>
    <p:extLst>
      <p:ext uri="{BB962C8B-B14F-4D97-AF65-F5344CB8AC3E}">
        <p14:creationId xmlns:p14="http://schemas.microsoft.com/office/powerpoint/2010/main" val="16637300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strVal val="#ppt_w+.3"/>
                                          </p:val>
                                        </p:tav>
                                        <p:tav tm="100000">
                                          <p:val>
                                            <p:strVal val="#ppt_w"/>
                                          </p:val>
                                        </p:tav>
                                      </p:tavLst>
                                    </p:anim>
                                    <p:anim calcmode="lin" valueType="num">
                                      <p:cBhvr>
                                        <p:cTn id="13" dur="1000" fill="hold"/>
                                        <p:tgtEl>
                                          <p:spTgt spid="10"/>
                                        </p:tgtEl>
                                        <p:attrNameLst>
                                          <p:attrName>ppt_h</p:attrName>
                                        </p:attrNameLst>
                                      </p:cBhvr>
                                      <p:tavLst>
                                        <p:tav tm="0">
                                          <p:val>
                                            <p:strVal val="#ppt_h"/>
                                          </p:val>
                                        </p:tav>
                                        <p:tav tm="100000">
                                          <p:val>
                                            <p:strVal val="#ppt_h"/>
                                          </p:val>
                                        </p:tav>
                                      </p:tavLst>
                                    </p:anim>
                                    <p:animEffect transition="in" filter="fade">
                                      <p:cBhvr>
                                        <p:cTn id="14" dur="10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Effect transition="in" filter="fade">
                                      <p:cBhvr>
                                        <p:cTn id="26" dur="1000"/>
                                        <p:tgtEl>
                                          <p:spTgt spid="9">
                                            <p:txEl>
                                              <p:pRg st="0" end="0"/>
                                            </p:txEl>
                                          </p:spTgt>
                                        </p:tgtEl>
                                      </p:cBhvr>
                                    </p:animEffect>
                                    <p:anim calcmode="lin" valueType="num">
                                      <p:cBhvr>
                                        <p:cTn id="27"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0" end="0"/>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animEffect transition="in" filter="fade">
                                      <p:cBhvr>
                                        <p:cTn id="31" dur="1000"/>
                                        <p:tgtEl>
                                          <p:spTgt spid="9">
                                            <p:txEl>
                                              <p:pRg st="1" end="1"/>
                                            </p:txEl>
                                          </p:spTgt>
                                        </p:tgtEl>
                                      </p:cBhvr>
                                    </p:animEffect>
                                    <p:anim calcmode="lin" valueType="num">
                                      <p:cBhvr>
                                        <p:cTn id="3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1" end="1"/>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9">
                                            <p:txEl>
                                              <p:pRg st="2" end="2"/>
                                            </p:txEl>
                                          </p:spTgt>
                                        </p:tgtEl>
                                        <p:attrNameLst>
                                          <p:attrName>style.visibility</p:attrName>
                                        </p:attrNameLst>
                                      </p:cBhvr>
                                      <p:to>
                                        <p:strVal val="visible"/>
                                      </p:to>
                                    </p:set>
                                    <p:animEffect transition="in" filter="fade">
                                      <p:cBhvr>
                                        <p:cTn id="36" dur="1000"/>
                                        <p:tgtEl>
                                          <p:spTgt spid="9">
                                            <p:txEl>
                                              <p:pRg st="2" end="2"/>
                                            </p:txEl>
                                          </p:spTgt>
                                        </p:tgtEl>
                                      </p:cBhvr>
                                    </p:animEffect>
                                    <p:anim calcmode="lin" valueType="num">
                                      <p:cBhvr>
                                        <p:cTn id="37"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8" dur="1000" fill="hold"/>
                                        <p:tgtEl>
                                          <p:spTgt spid="9">
                                            <p:txEl>
                                              <p:pRg st="2" end="2"/>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xEl>
                                              <p:pRg st="3" end="3"/>
                                            </p:txEl>
                                          </p:spTgt>
                                        </p:tgtEl>
                                        <p:attrNameLst>
                                          <p:attrName>style.visibility</p:attrName>
                                        </p:attrNameLst>
                                      </p:cBhvr>
                                      <p:to>
                                        <p:strVal val="visible"/>
                                      </p:to>
                                    </p:set>
                                    <p:animEffect transition="in" filter="fade">
                                      <p:cBhvr>
                                        <p:cTn id="41" dur="1000"/>
                                        <p:tgtEl>
                                          <p:spTgt spid="9">
                                            <p:txEl>
                                              <p:pRg st="3" end="3"/>
                                            </p:txEl>
                                          </p:spTgt>
                                        </p:tgtEl>
                                      </p:cBhvr>
                                    </p:animEffect>
                                    <p:anim calcmode="lin" valueType="num">
                                      <p:cBhvr>
                                        <p:cTn id="42"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9">
                                            <p:txEl>
                                              <p:pRg st="3" end="3"/>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9">
                                            <p:txEl>
                                              <p:pRg st="4" end="4"/>
                                            </p:txEl>
                                          </p:spTgt>
                                        </p:tgtEl>
                                        <p:attrNameLst>
                                          <p:attrName>style.visibility</p:attrName>
                                        </p:attrNameLst>
                                      </p:cBhvr>
                                      <p:to>
                                        <p:strVal val="visible"/>
                                      </p:to>
                                    </p:set>
                                    <p:animEffect transition="in" filter="fade">
                                      <p:cBhvr>
                                        <p:cTn id="46" dur="1000"/>
                                        <p:tgtEl>
                                          <p:spTgt spid="9">
                                            <p:txEl>
                                              <p:pRg st="4" end="4"/>
                                            </p:txEl>
                                          </p:spTgt>
                                        </p:tgtEl>
                                      </p:cBhvr>
                                    </p:animEffect>
                                    <p:anim calcmode="lin" valueType="num">
                                      <p:cBhvr>
                                        <p:cTn id="47"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48"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
                                            <p:txEl>
                                              <p:pRg st="0" end="0"/>
                                            </p:txEl>
                                          </p:spTgt>
                                        </p:tgtEl>
                                        <p:attrNameLst>
                                          <p:attrName>style.visibility</p:attrName>
                                        </p:attrNameLst>
                                      </p:cBhvr>
                                      <p:to>
                                        <p:strVal val="visible"/>
                                      </p:to>
                                    </p:set>
                                    <p:animEffect transition="in" filter="fade">
                                      <p:cBhvr>
                                        <p:cTn id="53" dur="1000"/>
                                        <p:tgtEl>
                                          <p:spTgt spid="3">
                                            <p:txEl>
                                              <p:pRg st="0" end="0"/>
                                            </p:txEl>
                                          </p:spTgt>
                                        </p:tgtEl>
                                      </p:cBhvr>
                                    </p:animEffect>
                                    <p:anim calcmode="lin" valueType="num">
                                      <p:cBhvr>
                                        <p:cTn id="5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0" end="0"/>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3">
                                            <p:txEl>
                                              <p:pRg st="1" end="1"/>
                                            </p:txEl>
                                          </p:spTgt>
                                        </p:tgtEl>
                                        <p:attrNameLst>
                                          <p:attrName>style.visibility</p:attrName>
                                        </p:attrNameLst>
                                      </p:cBhvr>
                                      <p:to>
                                        <p:strVal val="visible"/>
                                      </p:to>
                                    </p:set>
                                    <p:animEffect transition="in" filter="fade">
                                      <p:cBhvr>
                                        <p:cTn id="58" dur="1000"/>
                                        <p:tgtEl>
                                          <p:spTgt spid="3">
                                            <p:txEl>
                                              <p:pRg st="1" end="1"/>
                                            </p:txEl>
                                          </p:spTgt>
                                        </p:tgtEl>
                                      </p:cBhvr>
                                    </p:animEffect>
                                    <p:anim calcmode="lin" valueType="num">
                                      <p:cBhvr>
                                        <p:cTn id="5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1" end="1"/>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animEffect transition="in" filter="fade">
                                      <p:cBhvr>
                                        <p:cTn id="63" dur="1000"/>
                                        <p:tgtEl>
                                          <p:spTgt spid="3">
                                            <p:txEl>
                                              <p:pRg st="2" end="2"/>
                                            </p:txEl>
                                          </p:spTgt>
                                        </p:tgtEl>
                                      </p:cBhvr>
                                    </p:animEffect>
                                    <p:anim calcmode="lin" valueType="num">
                                      <p:cBhvr>
                                        <p:cTn id="6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2" end="2"/>
                                            </p:txEl>
                                          </p:spTgt>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3">
                                            <p:txEl>
                                              <p:pRg st="3" end="3"/>
                                            </p:txEl>
                                          </p:spTgt>
                                        </p:tgtEl>
                                        <p:attrNameLst>
                                          <p:attrName>style.visibility</p:attrName>
                                        </p:attrNameLst>
                                      </p:cBhvr>
                                      <p:to>
                                        <p:strVal val="visible"/>
                                      </p:to>
                                    </p:set>
                                    <p:animEffect transition="in" filter="fade">
                                      <p:cBhvr>
                                        <p:cTn id="68" dur="1000"/>
                                        <p:tgtEl>
                                          <p:spTgt spid="3">
                                            <p:txEl>
                                              <p:pRg st="3" end="3"/>
                                            </p:txEl>
                                          </p:spTgt>
                                        </p:tgtEl>
                                      </p:cBhvr>
                                    </p:animEffect>
                                    <p:anim calcmode="lin" valueType="num">
                                      <p:cBhvr>
                                        <p:cTn id="6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3">
                                            <p:txEl>
                                              <p:pRg st="4" end="4"/>
                                            </p:txEl>
                                          </p:spTgt>
                                        </p:tgtEl>
                                        <p:attrNameLst>
                                          <p:attrName>style.visibility</p:attrName>
                                        </p:attrNameLst>
                                      </p:cBhvr>
                                      <p:to>
                                        <p:strVal val="visible"/>
                                      </p:to>
                                    </p:set>
                                    <p:animEffect transition="in" filter="fade">
                                      <p:cBhvr>
                                        <p:cTn id="73" dur="1000"/>
                                        <p:tgtEl>
                                          <p:spTgt spid="3">
                                            <p:txEl>
                                              <p:pRg st="4" end="4"/>
                                            </p:txEl>
                                          </p:spTgt>
                                        </p:tgtEl>
                                      </p:cBhvr>
                                    </p:animEffect>
                                    <p:anim calcmode="lin" valueType="num">
                                      <p:cBhvr>
                                        <p:cTn id="7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7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AECAD-50D8-58B1-7654-396DE1BE5BC3}"/>
              </a:ext>
            </a:extLst>
          </p:cNvPr>
          <p:cNvSpPr>
            <a:spLocks noGrp="1"/>
          </p:cNvSpPr>
          <p:nvPr>
            <p:ph type="title"/>
          </p:nvPr>
        </p:nvSpPr>
        <p:spPr/>
        <p:txBody>
          <a:bodyPr>
            <a:normAutofit/>
          </a:bodyPr>
          <a:lstStyle/>
          <a:p>
            <a:r>
              <a:rPr lang="en-IN" dirty="0"/>
              <a:t>Comparison of K-means vs </a:t>
            </a:r>
            <a:r>
              <a:rPr lang="en-IN" dirty="0" err="1"/>
              <a:t>DBscan</a:t>
            </a:r>
            <a:endParaRPr lang="en-IN" dirty="0"/>
          </a:p>
        </p:txBody>
      </p:sp>
      <p:pic>
        <p:nvPicPr>
          <p:cNvPr id="5" name="Picture 4">
            <a:extLst>
              <a:ext uri="{FF2B5EF4-FFF2-40B4-BE49-F238E27FC236}">
                <a16:creationId xmlns:a16="http://schemas.microsoft.com/office/drawing/2014/main" id="{FF9B6A4D-E245-69A4-BEFC-4B39A84A57DF}"/>
              </a:ext>
            </a:extLst>
          </p:cNvPr>
          <p:cNvPicPr>
            <a:picLocks noChangeAspect="1"/>
          </p:cNvPicPr>
          <p:nvPr/>
        </p:nvPicPr>
        <p:blipFill>
          <a:blip r:embed="rId2"/>
          <a:stretch>
            <a:fillRect/>
          </a:stretch>
        </p:blipFill>
        <p:spPr>
          <a:xfrm>
            <a:off x="216310" y="1216441"/>
            <a:ext cx="11759380" cy="4670644"/>
          </a:xfrm>
          <a:prstGeom prst="rect">
            <a:avLst/>
          </a:prstGeom>
        </p:spPr>
      </p:pic>
    </p:spTree>
    <p:extLst>
      <p:ext uri="{BB962C8B-B14F-4D97-AF65-F5344CB8AC3E}">
        <p14:creationId xmlns:p14="http://schemas.microsoft.com/office/powerpoint/2010/main" val="55175440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2EEB7-1385-08E6-2DD1-9810EB47EA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A9A073-8FD4-DD07-1AAD-844E0E91B0D7}"/>
              </a:ext>
            </a:extLst>
          </p:cNvPr>
          <p:cNvSpPr>
            <a:spLocks noGrp="1"/>
          </p:cNvSpPr>
          <p:nvPr>
            <p:ph type="title"/>
          </p:nvPr>
        </p:nvSpPr>
        <p:spPr>
          <a:xfrm>
            <a:off x="413070" y="220686"/>
            <a:ext cx="10834234" cy="612775"/>
          </a:xfrm>
        </p:spPr>
        <p:txBody>
          <a:bodyPr>
            <a:normAutofit/>
          </a:bodyPr>
          <a:lstStyle/>
          <a:p>
            <a:pPr lvl="0" eaLnBrk="0" fontAlgn="base" hangingPunct="0">
              <a:lnSpc>
                <a:spcPct val="100000"/>
              </a:lnSpc>
              <a:spcAft>
                <a:spcPct val="0"/>
              </a:spcAft>
            </a:pPr>
            <a:r>
              <a:rPr lang="en-US" altLang="en-US" sz="3600" dirty="0">
                <a:latin typeface="Arial" panose="020B0604020202020204" pitchFamily="34" charset="0"/>
              </a:rPr>
              <a:t>Dashboard Overview </a:t>
            </a:r>
          </a:p>
        </p:txBody>
      </p:sp>
      <p:sp>
        <p:nvSpPr>
          <p:cNvPr id="9" name="Rectangle 6">
            <a:extLst>
              <a:ext uri="{FF2B5EF4-FFF2-40B4-BE49-F238E27FC236}">
                <a16:creationId xmlns:a16="http://schemas.microsoft.com/office/drawing/2014/main" id="{253F6A8C-98C4-3B34-1F52-967D10569869}"/>
              </a:ext>
            </a:extLst>
          </p:cNvPr>
          <p:cNvSpPr>
            <a:spLocks noGrp="1" noChangeArrowheads="1"/>
          </p:cNvSpPr>
          <p:nvPr>
            <p:ph idx="1"/>
          </p:nvPr>
        </p:nvSpPr>
        <p:spPr bwMode="auto">
          <a:xfrm>
            <a:off x="182653" y="1012346"/>
            <a:ext cx="4403479" cy="272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t>Dashboard Insights</a:t>
            </a:r>
          </a:p>
          <a:p>
            <a:r>
              <a:rPr lang="en-US" sz="2000" dirty="0"/>
              <a:t>Frequency (688) significantly exceeds target → strong customer activity </a:t>
            </a:r>
          </a:p>
          <a:p>
            <a:r>
              <a:rPr lang="en-US" sz="2000" dirty="0"/>
              <a:t>Recency (~49 days) below target → customers are actively engaged </a:t>
            </a:r>
          </a:p>
          <a:p>
            <a:r>
              <a:rPr lang="en-US" sz="2000" dirty="0"/>
              <a:t>Monetary (~450M) close to target → strong overall revenue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n-lt"/>
              <a:cs typeface="Arial" panose="020B0604020202020204" pitchFamily="34" charset="0"/>
            </a:endParaRPr>
          </a:p>
        </p:txBody>
      </p:sp>
      <p:pic>
        <p:nvPicPr>
          <p:cNvPr id="5" name="Picture 4">
            <a:extLst>
              <a:ext uri="{FF2B5EF4-FFF2-40B4-BE49-F238E27FC236}">
                <a16:creationId xmlns:a16="http://schemas.microsoft.com/office/drawing/2014/main" id="{111BA3CE-AD8D-E310-F3D2-34FDF8298D61}"/>
              </a:ext>
            </a:extLst>
          </p:cNvPr>
          <p:cNvPicPr>
            <a:picLocks noChangeAspect="1"/>
          </p:cNvPicPr>
          <p:nvPr/>
        </p:nvPicPr>
        <p:blipFill>
          <a:blip r:embed="rId3"/>
          <a:stretch>
            <a:fillRect/>
          </a:stretch>
        </p:blipFill>
        <p:spPr>
          <a:xfrm>
            <a:off x="4586132" y="1063256"/>
            <a:ext cx="7423217" cy="4359349"/>
          </a:xfrm>
          <a:prstGeom prst="rect">
            <a:avLst/>
          </a:prstGeom>
        </p:spPr>
      </p:pic>
      <p:sp>
        <p:nvSpPr>
          <p:cNvPr id="6" name="Rectangle 6">
            <a:extLst>
              <a:ext uri="{FF2B5EF4-FFF2-40B4-BE49-F238E27FC236}">
                <a16:creationId xmlns:a16="http://schemas.microsoft.com/office/drawing/2014/main" id="{8533D4F6-CE03-B3CA-0A7C-425104780553}"/>
              </a:ext>
            </a:extLst>
          </p:cNvPr>
          <p:cNvSpPr txBox="1">
            <a:spLocks noChangeArrowheads="1"/>
          </p:cNvSpPr>
          <p:nvPr/>
        </p:nvSpPr>
        <p:spPr bwMode="auto">
          <a:xfrm>
            <a:off x="101137" y="3627976"/>
            <a:ext cx="4403479" cy="241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RFM Scatter Insights</a:t>
            </a:r>
          </a:p>
          <a:p>
            <a:r>
              <a:rPr lang="en-US" sz="2000" dirty="0"/>
              <a:t>High Value customers show </a:t>
            </a:r>
            <a:r>
              <a:rPr lang="en-US" sz="2000" b="1" dirty="0"/>
              <a:t>high monetary + low recency</a:t>
            </a:r>
            <a:r>
              <a:rPr lang="en-US" sz="2000" dirty="0"/>
              <a:t> </a:t>
            </a:r>
          </a:p>
          <a:p>
            <a:r>
              <a:rPr lang="en-US" sz="2000" dirty="0"/>
              <a:t>Clear separation between customer segments </a:t>
            </a:r>
          </a:p>
          <a:p>
            <a:r>
              <a:rPr lang="en-US" sz="2000" dirty="0"/>
              <a:t>Few customers contribute disproportionately high revenue</a:t>
            </a:r>
          </a:p>
        </p:txBody>
      </p:sp>
    </p:spTree>
    <p:extLst>
      <p:ext uri="{BB962C8B-B14F-4D97-AF65-F5344CB8AC3E}">
        <p14:creationId xmlns:p14="http://schemas.microsoft.com/office/powerpoint/2010/main" val="1748948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1000"/>
                                        <p:tgtEl>
                                          <p:spTgt spid="9">
                                            <p:txEl>
                                              <p:pRg st="0" end="0"/>
                                            </p:txEl>
                                          </p:spTgt>
                                        </p:tgtEl>
                                      </p:cBhvr>
                                    </p:animEffect>
                                    <p:anim calcmode="lin" valueType="num">
                                      <p:cBhvr>
                                        <p:cTn id="1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fade">
                                      <p:cBhvr>
                                        <p:cTn id="17" dur="1000"/>
                                        <p:tgtEl>
                                          <p:spTgt spid="9">
                                            <p:txEl>
                                              <p:pRg st="1" end="1"/>
                                            </p:txEl>
                                          </p:spTgt>
                                        </p:tgtEl>
                                      </p:cBhvr>
                                    </p:animEffect>
                                    <p:anim calcmode="lin" valueType="num">
                                      <p:cBhvr>
                                        <p:cTn id="1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1000"/>
                                        <p:tgtEl>
                                          <p:spTgt spid="9">
                                            <p:txEl>
                                              <p:pRg st="2" end="2"/>
                                            </p:txEl>
                                          </p:spTgt>
                                        </p:tgtEl>
                                      </p:cBhvr>
                                    </p:animEffect>
                                    <p:anim calcmode="lin" valueType="num">
                                      <p:cBhvr>
                                        <p:cTn id="2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fade">
                                      <p:cBhvr>
                                        <p:cTn id="27" dur="1000"/>
                                        <p:tgtEl>
                                          <p:spTgt spid="9">
                                            <p:txEl>
                                              <p:pRg st="3" end="3"/>
                                            </p:txEl>
                                          </p:spTgt>
                                        </p:tgtEl>
                                      </p:cBhvr>
                                    </p:animEffect>
                                    <p:anim calcmode="lin" valueType="num">
                                      <p:cBhvr>
                                        <p:cTn id="2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1000" fill="hold"/>
                                        <p:tgtEl>
                                          <p:spTgt spid="6"/>
                                        </p:tgtEl>
                                        <p:attrNameLst>
                                          <p:attrName>ppt_w</p:attrName>
                                        </p:attrNameLst>
                                      </p:cBhvr>
                                      <p:tavLst>
                                        <p:tav tm="0">
                                          <p:val>
                                            <p:strVal val="#ppt_w*0.70"/>
                                          </p:val>
                                        </p:tav>
                                        <p:tav tm="100000">
                                          <p:val>
                                            <p:strVal val="#ppt_w"/>
                                          </p:val>
                                        </p:tav>
                                      </p:tavLst>
                                    </p:anim>
                                    <p:anim calcmode="lin" valueType="num">
                                      <p:cBhvr>
                                        <p:cTn id="35" dur="1000" fill="hold"/>
                                        <p:tgtEl>
                                          <p:spTgt spid="6"/>
                                        </p:tgtEl>
                                        <p:attrNameLst>
                                          <p:attrName>ppt_h</p:attrName>
                                        </p:attrNameLst>
                                      </p:cBhvr>
                                      <p:tavLst>
                                        <p:tav tm="0">
                                          <p:val>
                                            <p:strVal val="#ppt_h"/>
                                          </p:val>
                                        </p:tav>
                                        <p:tav tm="100000">
                                          <p:val>
                                            <p:strVal val="#ppt_h"/>
                                          </p:val>
                                        </p:tav>
                                      </p:tavLst>
                                    </p:anim>
                                    <p:animEffect transition="in" filter="fade">
                                      <p:cBhvr>
                                        <p:cTn id="36" dur="10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Effect transition="in" filter="fade">
                                      <p:cBhvr>
                                        <p:cTn id="41" dur="1000"/>
                                        <p:tgtEl>
                                          <p:spTgt spid="6">
                                            <p:txEl>
                                              <p:pRg st="0" end="0"/>
                                            </p:txEl>
                                          </p:spTgt>
                                        </p:tgtEl>
                                      </p:cBhvr>
                                    </p:animEffect>
                                    <p:anim calcmode="lin" valueType="num">
                                      <p:cBhvr>
                                        <p:cTn id="4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0" end="0"/>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6">
                                            <p:txEl>
                                              <p:pRg st="1" end="1"/>
                                            </p:txEl>
                                          </p:spTgt>
                                        </p:tgtEl>
                                        <p:attrNameLst>
                                          <p:attrName>style.visibility</p:attrName>
                                        </p:attrNameLst>
                                      </p:cBhvr>
                                      <p:to>
                                        <p:strVal val="visible"/>
                                      </p:to>
                                    </p:set>
                                    <p:animEffect transition="in" filter="fade">
                                      <p:cBhvr>
                                        <p:cTn id="46" dur="1000"/>
                                        <p:tgtEl>
                                          <p:spTgt spid="6">
                                            <p:txEl>
                                              <p:pRg st="1" end="1"/>
                                            </p:txEl>
                                          </p:spTgt>
                                        </p:tgtEl>
                                      </p:cBhvr>
                                    </p:animEffect>
                                    <p:anim calcmode="lin" valueType="num">
                                      <p:cBhvr>
                                        <p:cTn id="47"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48" dur="1000" fill="hold"/>
                                        <p:tgtEl>
                                          <p:spTgt spid="6">
                                            <p:txEl>
                                              <p:pRg st="1" end="1"/>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6">
                                            <p:txEl>
                                              <p:pRg st="2" end="2"/>
                                            </p:txEl>
                                          </p:spTgt>
                                        </p:tgtEl>
                                        <p:attrNameLst>
                                          <p:attrName>style.visibility</p:attrName>
                                        </p:attrNameLst>
                                      </p:cBhvr>
                                      <p:to>
                                        <p:strVal val="visible"/>
                                      </p:to>
                                    </p:set>
                                    <p:animEffect transition="in" filter="fade">
                                      <p:cBhvr>
                                        <p:cTn id="51" dur="1000"/>
                                        <p:tgtEl>
                                          <p:spTgt spid="6">
                                            <p:txEl>
                                              <p:pRg st="2" end="2"/>
                                            </p:txEl>
                                          </p:spTgt>
                                        </p:tgtEl>
                                      </p:cBhvr>
                                    </p:animEffect>
                                    <p:anim calcmode="lin" valueType="num">
                                      <p:cBhvr>
                                        <p:cTn id="5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53" dur="1000" fill="hold"/>
                                        <p:tgtEl>
                                          <p:spTgt spid="6">
                                            <p:txEl>
                                              <p:pRg st="2" end="2"/>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6">
                                            <p:txEl>
                                              <p:pRg st="3" end="3"/>
                                            </p:txEl>
                                          </p:spTgt>
                                        </p:tgtEl>
                                        <p:attrNameLst>
                                          <p:attrName>style.visibility</p:attrName>
                                        </p:attrNameLst>
                                      </p:cBhvr>
                                      <p:to>
                                        <p:strVal val="visible"/>
                                      </p:to>
                                    </p:set>
                                    <p:animEffect transition="in" filter="fade">
                                      <p:cBhvr>
                                        <p:cTn id="56" dur="1000"/>
                                        <p:tgtEl>
                                          <p:spTgt spid="6">
                                            <p:txEl>
                                              <p:pRg st="3" end="3"/>
                                            </p:txEl>
                                          </p:spTgt>
                                        </p:tgtEl>
                                      </p:cBhvr>
                                    </p:animEffect>
                                    <p:anim calcmode="lin" valueType="num">
                                      <p:cBhvr>
                                        <p:cTn id="5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build="p"/>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6E2A-0E50-C327-082E-8EE1590AA4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CC59C0B-B28C-A61E-1DE1-1115114F2AC3}"/>
              </a:ext>
            </a:extLst>
          </p:cNvPr>
          <p:cNvSpPr>
            <a:spLocks noGrp="1"/>
          </p:cNvSpPr>
          <p:nvPr>
            <p:ph type="title"/>
          </p:nvPr>
        </p:nvSpPr>
        <p:spPr/>
        <p:txBody>
          <a:bodyPr>
            <a:normAutofit/>
          </a:bodyPr>
          <a:lstStyle/>
          <a:p>
            <a:r>
              <a:rPr lang="en-IN" dirty="0"/>
              <a:t>Key Insights</a:t>
            </a:r>
          </a:p>
        </p:txBody>
      </p:sp>
      <p:sp>
        <p:nvSpPr>
          <p:cNvPr id="7" name="Title 2">
            <a:extLst>
              <a:ext uri="{FF2B5EF4-FFF2-40B4-BE49-F238E27FC236}">
                <a16:creationId xmlns:a16="http://schemas.microsoft.com/office/drawing/2014/main" id="{F869B459-5B32-CE9E-18D9-F36A08E06AB4}"/>
              </a:ext>
            </a:extLst>
          </p:cNvPr>
          <p:cNvSpPr txBox="1">
            <a:spLocks/>
          </p:cNvSpPr>
          <p:nvPr/>
        </p:nvSpPr>
        <p:spPr>
          <a:xfrm>
            <a:off x="6583494" y="603664"/>
            <a:ext cx="5107239"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IN" dirty="0">
                <a:solidFill>
                  <a:schemeClr val="bg1"/>
                </a:solidFill>
              </a:rPr>
              <a:t>Business Recommendations</a:t>
            </a:r>
          </a:p>
        </p:txBody>
      </p:sp>
      <p:sp>
        <p:nvSpPr>
          <p:cNvPr id="9" name="Rectangle 1">
            <a:extLst>
              <a:ext uri="{FF2B5EF4-FFF2-40B4-BE49-F238E27FC236}">
                <a16:creationId xmlns:a16="http://schemas.microsoft.com/office/drawing/2014/main" id="{F5B79D15-A344-5AE8-7108-0D4F96DB8D64}"/>
              </a:ext>
            </a:extLst>
          </p:cNvPr>
          <p:cNvSpPr>
            <a:spLocks noGrp="1" noChangeArrowheads="1"/>
          </p:cNvSpPr>
          <p:nvPr>
            <p:ph idx="1"/>
          </p:nvPr>
        </p:nvSpPr>
        <p:spPr bwMode="auto">
          <a:xfrm>
            <a:off x="0" y="1536173"/>
            <a:ext cx="59117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Majority revenue is driven by high-value customers (~65%)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Monetary shows high variation → few customers contribute most revenue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Low recency = strong engagement (active customer base)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At-risk customers exist but are currently low in proportion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Frequency is very high → repeat purchase behavior is strong </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Clear segmentation → easy to target customers differently </a:t>
            </a:r>
          </a:p>
        </p:txBody>
      </p:sp>
      <p:sp>
        <p:nvSpPr>
          <p:cNvPr id="15" name="Rectangle 1">
            <a:extLst>
              <a:ext uri="{FF2B5EF4-FFF2-40B4-BE49-F238E27FC236}">
                <a16:creationId xmlns:a16="http://schemas.microsoft.com/office/drawing/2014/main" id="{C8D5D7B1-04F2-2F63-8C50-508A503E721B}"/>
              </a:ext>
            </a:extLst>
          </p:cNvPr>
          <p:cNvSpPr txBox="1">
            <a:spLocks noChangeArrowheads="1"/>
          </p:cNvSpPr>
          <p:nvPr/>
        </p:nvSpPr>
        <p:spPr bwMode="auto">
          <a:xfrm>
            <a:off x="6280299" y="1536173"/>
            <a:ext cx="591170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spcBef>
                <a:spcPct val="0"/>
              </a:spcBef>
              <a:spcAft>
                <a:spcPct val="0"/>
              </a:spcAft>
            </a:pPr>
            <a:r>
              <a:rPr lang="en-US" altLang="en-US" sz="2000" b="1" dirty="0">
                <a:solidFill>
                  <a:schemeClr val="bg1"/>
                </a:solidFill>
                <a:latin typeface="Arial" panose="020B0604020202020204" pitchFamily="34" charset="0"/>
              </a:rPr>
              <a:t>Focus on retaining high-value customers (VIP programs, exclusives) </a:t>
            </a:r>
          </a:p>
          <a:p>
            <a:pPr eaLnBrk="0" fontAlgn="base" hangingPunct="0">
              <a:spcBef>
                <a:spcPct val="0"/>
              </a:spcBef>
              <a:spcAft>
                <a:spcPct val="0"/>
              </a:spcAft>
            </a:pPr>
            <a:r>
              <a:rPr lang="en-US" altLang="en-US" sz="2000" b="1" dirty="0">
                <a:solidFill>
                  <a:schemeClr val="bg1"/>
                </a:solidFill>
                <a:latin typeface="Arial" panose="020B0604020202020204" pitchFamily="34" charset="0"/>
              </a:rPr>
              <a:t>Launch win-back campaigns for at-risk customers </a:t>
            </a:r>
          </a:p>
          <a:p>
            <a:pPr eaLnBrk="0" fontAlgn="base" hangingPunct="0">
              <a:spcBef>
                <a:spcPct val="0"/>
              </a:spcBef>
              <a:spcAft>
                <a:spcPct val="0"/>
              </a:spcAft>
            </a:pPr>
            <a:r>
              <a:rPr lang="en-US" altLang="en-US" sz="2000" b="1" dirty="0">
                <a:solidFill>
                  <a:schemeClr val="bg1"/>
                </a:solidFill>
                <a:latin typeface="Arial" panose="020B0604020202020204" pitchFamily="34" charset="0"/>
              </a:rPr>
              <a:t>Convert low-value customers via cross-sell &amp; upsell strategies </a:t>
            </a:r>
          </a:p>
          <a:p>
            <a:pPr eaLnBrk="0" fontAlgn="base" hangingPunct="0">
              <a:spcBef>
                <a:spcPct val="0"/>
              </a:spcBef>
              <a:spcAft>
                <a:spcPct val="0"/>
              </a:spcAft>
            </a:pPr>
            <a:r>
              <a:rPr lang="en-US" altLang="en-US" sz="2000" b="1" dirty="0">
                <a:solidFill>
                  <a:schemeClr val="bg1"/>
                </a:solidFill>
                <a:latin typeface="Arial" panose="020B0604020202020204" pitchFamily="34" charset="0"/>
              </a:rPr>
              <a:t>Introduce loyalty rewards &amp; personalized offers </a:t>
            </a:r>
          </a:p>
          <a:p>
            <a:pPr eaLnBrk="0" fontAlgn="base" hangingPunct="0">
              <a:spcBef>
                <a:spcPct val="0"/>
              </a:spcBef>
              <a:spcAft>
                <a:spcPct val="0"/>
              </a:spcAft>
            </a:pPr>
            <a:r>
              <a:rPr lang="en-US" altLang="en-US" sz="2000" b="1" dirty="0">
                <a:solidFill>
                  <a:schemeClr val="bg1"/>
                </a:solidFill>
                <a:latin typeface="Arial" panose="020B0604020202020204" pitchFamily="34" charset="0"/>
              </a:rPr>
              <a:t>Use segmentation for targeted marketing instead of mass campaigns </a:t>
            </a:r>
          </a:p>
          <a:p>
            <a:pPr eaLnBrk="0" fontAlgn="base" hangingPunct="0">
              <a:spcBef>
                <a:spcPct val="0"/>
              </a:spcBef>
              <a:spcAft>
                <a:spcPct val="0"/>
              </a:spcAft>
            </a:pPr>
            <a:r>
              <a:rPr lang="en-US" altLang="en-US" sz="2000" b="1" dirty="0">
                <a:solidFill>
                  <a:schemeClr val="bg1"/>
                </a:solidFill>
                <a:latin typeface="Arial" panose="020B0604020202020204" pitchFamily="34" charset="0"/>
              </a:rPr>
              <a:t>Prioritize customer retention over acquisition </a:t>
            </a:r>
          </a:p>
        </p:txBody>
      </p:sp>
    </p:spTree>
    <p:extLst>
      <p:ext uri="{BB962C8B-B14F-4D97-AF65-F5344CB8AC3E}">
        <p14:creationId xmlns:p14="http://schemas.microsoft.com/office/powerpoint/2010/main" val="34722936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1000"/>
                                        <p:tgtEl>
                                          <p:spTgt spid="9">
                                            <p:txEl>
                                              <p:pRg st="0" end="0"/>
                                            </p:txEl>
                                          </p:spTgt>
                                        </p:tgtEl>
                                      </p:cBhvr>
                                    </p:animEffect>
                                    <p:anim calcmode="lin" valueType="num">
                                      <p:cBhvr>
                                        <p:cTn id="1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fade">
                                      <p:cBhvr>
                                        <p:cTn id="17" dur="1000"/>
                                        <p:tgtEl>
                                          <p:spTgt spid="9">
                                            <p:txEl>
                                              <p:pRg st="1" end="1"/>
                                            </p:txEl>
                                          </p:spTgt>
                                        </p:tgtEl>
                                      </p:cBhvr>
                                    </p:animEffect>
                                    <p:anim calcmode="lin" valueType="num">
                                      <p:cBhvr>
                                        <p:cTn id="1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1000"/>
                                        <p:tgtEl>
                                          <p:spTgt spid="9">
                                            <p:txEl>
                                              <p:pRg st="2" end="2"/>
                                            </p:txEl>
                                          </p:spTgt>
                                        </p:tgtEl>
                                      </p:cBhvr>
                                    </p:animEffect>
                                    <p:anim calcmode="lin" valueType="num">
                                      <p:cBhvr>
                                        <p:cTn id="2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fade">
                                      <p:cBhvr>
                                        <p:cTn id="27" dur="1000"/>
                                        <p:tgtEl>
                                          <p:spTgt spid="9">
                                            <p:txEl>
                                              <p:pRg st="3" end="3"/>
                                            </p:txEl>
                                          </p:spTgt>
                                        </p:tgtEl>
                                      </p:cBhvr>
                                    </p:animEffect>
                                    <p:anim calcmode="lin" valueType="num">
                                      <p:cBhvr>
                                        <p:cTn id="2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xEl>
                                              <p:pRg st="4" end="4"/>
                                            </p:txEl>
                                          </p:spTgt>
                                        </p:tgtEl>
                                        <p:attrNameLst>
                                          <p:attrName>style.visibility</p:attrName>
                                        </p:attrNameLst>
                                      </p:cBhvr>
                                      <p:to>
                                        <p:strVal val="visible"/>
                                      </p:to>
                                    </p:set>
                                    <p:animEffect transition="in" filter="fade">
                                      <p:cBhvr>
                                        <p:cTn id="32" dur="1000"/>
                                        <p:tgtEl>
                                          <p:spTgt spid="9">
                                            <p:txEl>
                                              <p:pRg st="4" end="4"/>
                                            </p:txEl>
                                          </p:spTgt>
                                        </p:tgtEl>
                                      </p:cBhvr>
                                    </p:animEffect>
                                    <p:anim calcmode="lin" valueType="num">
                                      <p:cBhvr>
                                        <p:cTn id="3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animEffect transition="in" filter="fade">
                                      <p:cBhvr>
                                        <p:cTn id="37" dur="1000"/>
                                        <p:tgtEl>
                                          <p:spTgt spid="9">
                                            <p:txEl>
                                              <p:pRg st="5" end="5"/>
                                            </p:txEl>
                                          </p:spTgt>
                                        </p:tgtEl>
                                      </p:cBhvr>
                                    </p:animEffect>
                                    <p:anim calcmode="lin" valueType="num">
                                      <p:cBhvr>
                                        <p:cTn id="3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5">
                                            <p:txEl>
                                              <p:pRg st="0" end="0"/>
                                            </p:txEl>
                                          </p:spTgt>
                                        </p:tgtEl>
                                        <p:attrNameLst>
                                          <p:attrName>style.visibility</p:attrName>
                                        </p:attrNameLst>
                                      </p:cBhvr>
                                      <p:to>
                                        <p:strVal val="visible"/>
                                      </p:to>
                                    </p:set>
                                    <p:animEffect transition="in" filter="fade">
                                      <p:cBhvr>
                                        <p:cTn id="49" dur="1000"/>
                                        <p:tgtEl>
                                          <p:spTgt spid="15">
                                            <p:txEl>
                                              <p:pRg st="0" end="0"/>
                                            </p:txEl>
                                          </p:spTgt>
                                        </p:tgtEl>
                                      </p:cBhvr>
                                    </p:animEffect>
                                    <p:anim calcmode="lin" valueType="num">
                                      <p:cBhvr>
                                        <p:cTn id="50"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5">
                                            <p:txEl>
                                              <p:pRg st="1" end="1"/>
                                            </p:txEl>
                                          </p:spTgt>
                                        </p:tgtEl>
                                        <p:attrNameLst>
                                          <p:attrName>style.visibility</p:attrName>
                                        </p:attrNameLst>
                                      </p:cBhvr>
                                      <p:to>
                                        <p:strVal val="visible"/>
                                      </p:to>
                                    </p:set>
                                    <p:animEffect transition="in" filter="fade">
                                      <p:cBhvr>
                                        <p:cTn id="54" dur="1000"/>
                                        <p:tgtEl>
                                          <p:spTgt spid="15">
                                            <p:txEl>
                                              <p:pRg st="1" end="1"/>
                                            </p:txEl>
                                          </p:spTgt>
                                        </p:tgtEl>
                                      </p:cBhvr>
                                    </p:animEffect>
                                    <p:anim calcmode="lin" valueType="num">
                                      <p:cBhvr>
                                        <p:cTn id="5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56" dur="1000" fill="hold"/>
                                        <p:tgtEl>
                                          <p:spTgt spid="15">
                                            <p:txEl>
                                              <p:pRg st="1" end="1"/>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5">
                                            <p:txEl>
                                              <p:pRg st="2" end="2"/>
                                            </p:txEl>
                                          </p:spTgt>
                                        </p:tgtEl>
                                        <p:attrNameLst>
                                          <p:attrName>style.visibility</p:attrName>
                                        </p:attrNameLst>
                                      </p:cBhvr>
                                      <p:to>
                                        <p:strVal val="visible"/>
                                      </p:to>
                                    </p:set>
                                    <p:animEffect transition="in" filter="fade">
                                      <p:cBhvr>
                                        <p:cTn id="59" dur="1000"/>
                                        <p:tgtEl>
                                          <p:spTgt spid="15">
                                            <p:txEl>
                                              <p:pRg st="2" end="2"/>
                                            </p:txEl>
                                          </p:spTgt>
                                        </p:tgtEl>
                                      </p:cBhvr>
                                    </p:animEffect>
                                    <p:anim calcmode="lin" valueType="num">
                                      <p:cBhvr>
                                        <p:cTn id="60"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61"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5">
                                            <p:txEl>
                                              <p:pRg st="3" end="3"/>
                                            </p:txEl>
                                          </p:spTgt>
                                        </p:tgtEl>
                                        <p:attrNameLst>
                                          <p:attrName>style.visibility</p:attrName>
                                        </p:attrNameLst>
                                      </p:cBhvr>
                                      <p:to>
                                        <p:strVal val="visible"/>
                                      </p:to>
                                    </p:set>
                                    <p:animEffect transition="in" filter="fade">
                                      <p:cBhvr>
                                        <p:cTn id="64" dur="1000"/>
                                        <p:tgtEl>
                                          <p:spTgt spid="15">
                                            <p:txEl>
                                              <p:pRg st="3" end="3"/>
                                            </p:txEl>
                                          </p:spTgt>
                                        </p:tgtEl>
                                      </p:cBhvr>
                                    </p:animEffect>
                                    <p:anim calcmode="lin" valueType="num">
                                      <p:cBhvr>
                                        <p:cTn id="65"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66"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5">
                                            <p:txEl>
                                              <p:pRg st="4" end="4"/>
                                            </p:txEl>
                                          </p:spTgt>
                                        </p:tgtEl>
                                        <p:attrNameLst>
                                          <p:attrName>style.visibility</p:attrName>
                                        </p:attrNameLst>
                                      </p:cBhvr>
                                      <p:to>
                                        <p:strVal val="visible"/>
                                      </p:to>
                                    </p:set>
                                    <p:animEffect transition="in" filter="fade">
                                      <p:cBhvr>
                                        <p:cTn id="69" dur="1000"/>
                                        <p:tgtEl>
                                          <p:spTgt spid="15">
                                            <p:txEl>
                                              <p:pRg st="4" end="4"/>
                                            </p:txEl>
                                          </p:spTgt>
                                        </p:tgtEl>
                                      </p:cBhvr>
                                    </p:animEffect>
                                    <p:anim calcmode="lin" valueType="num">
                                      <p:cBhvr>
                                        <p:cTn id="70"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71" dur="1000" fill="hold"/>
                                        <p:tgtEl>
                                          <p:spTgt spid="15">
                                            <p:txEl>
                                              <p:pRg st="4" end="4"/>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5">
                                            <p:txEl>
                                              <p:pRg st="5" end="5"/>
                                            </p:txEl>
                                          </p:spTgt>
                                        </p:tgtEl>
                                        <p:attrNameLst>
                                          <p:attrName>style.visibility</p:attrName>
                                        </p:attrNameLst>
                                      </p:cBhvr>
                                      <p:to>
                                        <p:strVal val="visible"/>
                                      </p:to>
                                    </p:set>
                                    <p:animEffect transition="in" filter="fade">
                                      <p:cBhvr>
                                        <p:cTn id="74" dur="1000"/>
                                        <p:tgtEl>
                                          <p:spTgt spid="15">
                                            <p:txEl>
                                              <p:pRg st="5" end="5"/>
                                            </p:txEl>
                                          </p:spTgt>
                                        </p:tgtEl>
                                      </p:cBhvr>
                                    </p:animEffect>
                                    <p:anim calcmode="lin" valueType="num">
                                      <p:cBhvr>
                                        <p:cTn id="75"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76" dur="1000" fill="hold"/>
                                        <p:tgtEl>
                                          <p:spTgt spid="1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49F8-E07F-C657-4F7C-6B4DA02F0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8D67E-D539-98E5-3310-B99FE9AF0334}"/>
              </a:ext>
            </a:extLst>
          </p:cNvPr>
          <p:cNvSpPr>
            <a:spLocks noGrp="1"/>
          </p:cNvSpPr>
          <p:nvPr>
            <p:ph type="title"/>
          </p:nvPr>
        </p:nvSpPr>
        <p:spPr/>
        <p:txBody>
          <a:bodyPr/>
          <a:lstStyle/>
          <a:p>
            <a:r>
              <a:rPr lang="en-IN" dirty="0"/>
              <a:t>Conclusion</a:t>
            </a:r>
          </a:p>
        </p:txBody>
      </p:sp>
      <p:sp>
        <p:nvSpPr>
          <p:cNvPr id="4" name="Rectangle 1">
            <a:extLst>
              <a:ext uri="{FF2B5EF4-FFF2-40B4-BE49-F238E27FC236}">
                <a16:creationId xmlns:a16="http://schemas.microsoft.com/office/drawing/2014/main" id="{C1EBDC36-AEE7-F900-2DE3-CF9C8E2F4989}"/>
              </a:ext>
            </a:extLst>
          </p:cNvPr>
          <p:cNvSpPr>
            <a:spLocks noGrp="1" noChangeArrowheads="1"/>
          </p:cNvSpPr>
          <p:nvPr>
            <p:ph idx="1"/>
          </p:nvPr>
        </p:nvSpPr>
        <p:spPr bwMode="auto">
          <a:xfrm>
            <a:off x="166250" y="1042244"/>
            <a:ext cx="725323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lang="en-US" altLang="en-US" sz="2000" dirty="0">
              <a:solidFill>
                <a:schemeClr val="tx1"/>
              </a:solidFill>
              <a:latin typeface="Arial" panose="020B0604020202020204" pitchFamily="34" charset="0"/>
            </a:endParaRP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Identified </a:t>
            </a:r>
            <a:r>
              <a:rPr lang="en-US" altLang="en-US" sz="2000" b="1" dirty="0">
                <a:solidFill>
                  <a:schemeClr val="tx1"/>
                </a:solidFill>
                <a:latin typeface="Arial" panose="020B0604020202020204" pitchFamily="34" charset="0"/>
              </a:rPr>
              <a:t>clear customer segments</a:t>
            </a:r>
            <a:r>
              <a:rPr lang="en-US" altLang="en-US" sz="2000" dirty="0">
                <a:solidFill>
                  <a:schemeClr val="tx1"/>
                </a:solidFill>
                <a:latin typeface="Arial" panose="020B0604020202020204" pitchFamily="34" charset="0"/>
              </a:rPr>
              <a:t> using RFM-based clustering </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A small group of customers contributes to </a:t>
            </a:r>
            <a:r>
              <a:rPr lang="en-US" altLang="en-US" sz="2000" b="1" dirty="0">
                <a:solidFill>
                  <a:schemeClr val="tx1"/>
                </a:solidFill>
                <a:latin typeface="Arial" panose="020B0604020202020204" pitchFamily="34" charset="0"/>
              </a:rPr>
              <a:t>major revenue (High Value segment)</a:t>
            </a:r>
            <a:r>
              <a:rPr lang="en-US" altLang="en-US" sz="2000" dirty="0">
                <a:solidFill>
                  <a:schemeClr val="tx1"/>
                </a:solidFill>
                <a:latin typeface="Arial" panose="020B0604020202020204" pitchFamily="34" charset="0"/>
              </a:rPr>
              <a:t> </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Significant number of customers fall into </a:t>
            </a:r>
            <a:r>
              <a:rPr lang="en-US" altLang="en-US" sz="2000" b="1" dirty="0">
                <a:solidFill>
                  <a:schemeClr val="tx1"/>
                </a:solidFill>
                <a:latin typeface="Arial" panose="020B0604020202020204" pitchFamily="34" charset="0"/>
              </a:rPr>
              <a:t>At-Risk category</a:t>
            </a:r>
            <a:r>
              <a:rPr lang="en-US" altLang="en-US" sz="2000" dirty="0">
                <a:solidFill>
                  <a:schemeClr val="tx1"/>
                </a:solidFill>
                <a:latin typeface="Arial" panose="020B0604020202020204" pitchFamily="34" charset="0"/>
              </a:rPr>
              <a:t> </a:t>
            </a:r>
          </a:p>
          <a:p>
            <a:pPr eaLnBrk="0" fontAlgn="base" hangingPunct="0">
              <a:lnSpc>
                <a:spcPct val="100000"/>
              </a:lnSpc>
              <a:spcBef>
                <a:spcPct val="0"/>
              </a:spcBef>
              <a:spcAft>
                <a:spcPct val="0"/>
              </a:spcAft>
            </a:pPr>
            <a:r>
              <a:rPr lang="en-US" altLang="en-US" sz="2000" b="1" dirty="0">
                <a:solidFill>
                  <a:schemeClr val="tx1"/>
                </a:solidFill>
                <a:latin typeface="Arial" panose="020B0604020202020204" pitchFamily="34" charset="0"/>
              </a:rPr>
              <a:t>Frequency and Monetary</a:t>
            </a:r>
            <a:r>
              <a:rPr lang="en-US" altLang="en-US" sz="2000" dirty="0">
                <a:solidFill>
                  <a:schemeClr val="tx1"/>
                </a:solidFill>
                <a:latin typeface="Arial" panose="020B0604020202020204" pitchFamily="34" charset="0"/>
              </a:rPr>
              <a:t> are the most important factors driving customer value </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Customers with high Recency indicate </a:t>
            </a:r>
            <a:r>
              <a:rPr lang="en-US" altLang="en-US" sz="2000" b="1" dirty="0">
                <a:solidFill>
                  <a:schemeClr val="tx1"/>
                </a:solidFill>
                <a:latin typeface="Arial" panose="020B0604020202020204" pitchFamily="34" charset="0"/>
              </a:rPr>
              <a:t>potential churn risk</a:t>
            </a:r>
            <a:r>
              <a:rPr lang="en-US" altLang="en-US" sz="2000" dirty="0">
                <a:solidFill>
                  <a:schemeClr val="tx1"/>
                </a:solidFill>
                <a:latin typeface="Arial" panose="020B0604020202020204" pitchFamily="34" charset="0"/>
              </a:rPr>
              <a:t> </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Revenue is concentrated among </a:t>
            </a:r>
            <a:r>
              <a:rPr lang="en-US" altLang="en-US" sz="2000" b="1" dirty="0">
                <a:solidFill>
                  <a:schemeClr val="tx1"/>
                </a:solidFill>
                <a:latin typeface="Arial" panose="020B0604020202020204" pitchFamily="34" charset="0"/>
              </a:rPr>
              <a:t>loyal and frequent buyers</a:t>
            </a:r>
            <a:r>
              <a:rPr lang="en-US" altLang="en-US" sz="2000" dirty="0">
                <a:solidFill>
                  <a:schemeClr val="tx1"/>
                </a:solidFill>
                <a:latin typeface="Arial" panose="020B0604020202020204" pitchFamily="34" charset="0"/>
              </a:rPr>
              <a:t> </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Customer behavior patterns enable </a:t>
            </a:r>
            <a:r>
              <a:rPr lang="en-US" altLang="en-US" sz="2000" b="1" dirty="0">
                <a:solidFill>
                  <a:schemeClr val="tx1"/>
                </a:solidFill>
                <a:latin typeface="Arial" panose="020B0604020202020204" pitchFamily="34" charset="0"/>
              </a:rPr>
              <a:t>targeted marketing strategies</a:t>
            </a:r>
            <a:r>
              <a:rPr lang="en-US" altLang="en-US" sz="2000" dirty="0">
                <a:solidFill>
                  <a:schemeClr val="tx1"/>
                </a:solidFill>
                <a:latin typeface="Arial" panose="020B0604020202020204" pitchFamily="34" charset="0"/>
              </a:rPr>
              <a:t> </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Dashboard provides </a:t>
            </a:r>
            <a:r>
              <a:rPr lang="en-US" altLang="en-US" sz="2000" b="1" dirty="0">
                <a:solidFill>
                  <a:schemeClr val="tx1"/>
                </a:solidFill>
                <a:latin typeface="Arial" panose="020B0604020202020204" pitchFamily="34" charset="0"/>
              </a:rPr>
              <a:t>interactive insights for better decision-making</a:t>
            </a:r>
            <a:r>
              <a:rPr lang="en-US" altLang="en-US" sz="2000" dirty="0">
                <a:solidFill>
                  <a:schemeClr val="tx1"/>
                </a:solidFill>
                <a:latin typeface="Arial" panose="020B0604020202020204" pitchFamily="34" charset="0"/>
              </a:rPr>
              <a:t> </a:t>
            </a:r>
          </a:p>
        </p:txBody>
      </p:sp>
      <p:pic>
        <p:nvPicPr>
          <p:cNvPr id="5" name="Picture 4">
            <a:extLst>
              <a:ext uri="{FF2B5EF4-FFF2-40B4-BE49-F238E27FC236}">
                <a16:creationId xmlns:a16="http://schemas.microsoft.com/office/drawing/2014/main" id="{41E47AA6-8E7F-D558-0E1E-BAC5CC696F5C}"/>
              </a:ext>
            </a:extLst>
          </p:cNvPr>
          <p:cNvPicPr>
            <a:picLocks noChangeAspect="1"/>
          </p:cNvPicPr>
          <p:nvPr/>
        </p:nvPicPr>
        <p:blipFill>
          <a:blip r:embed="rId2"/>
          <a:srcRect l="2154" t="2298" r="2073"/>
          <a:stretch>
            <a:fillRect/>
          </a:stretch>
        </p:blipFill>
        <p:spPr>
          <a:xfrm>
            <a:off x="7419482" y="780085"/>
            <a:ext cx="5169468" cy="4663364"/>
          </a:xfrm>
          <a:prstGeom prst="rect">
            <a:avLst/>
          </a:prstGeom>
        </p:spPr>
      </p:pic>
    </p:spTree>
    <p:extLst>
      <p:ext uri="{BB962C8B-B14F-4D97-AF65-F5344CB8AC3E}">
        <p14:creationId xmlns:p14="http://schemas.microsoft.com/office/powerpoint/2010/main" val="37636334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1000"/>
                                        <p:tgtEl>
                                          <p:spTgt spid="4">
                                            <p:txEl>
                                              <p:pRg st="6" end="6"/>
                                            </p:txEl>
                                          </p:spTgt>
                                        </p:tgtEl>
                                      </p:cBhvr>
                                    </p:animEffect>
                                    <p:anim calcmode="lin" valueType="num">
                                      <p:cBhvr>
                                        <p:cTn id="3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1000"/>
                                        <p:tgtEl>
                                          <p:spTgt spid="4">
                                            <p:txEl>
                                              <p:pRg st="7" end="7"/>
                                            </p:txEl>
                                          </p:spTgt>
                                        </p:tgtEl>
                                      </p:cBhvr>
                                    </p:animEffect>
                                    <p:anim calcmode="lin" valueType="num">
                                      <p:cBhvr>
                                        <p:cTn id="3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
                                            <p:txEl>
                                              <p:pRg st="8" end="8"/>
                                            </p:txEl>
                                          </p:spTgt>
                                        </p:tgtEl>
                                        <p:attrNameLst>
                                          <p:attrName>style.visibility</p:attrName>
                                        </p:attrNameLst>
                                      </p:cBhvr>
                                      <p:to>
                                        <p:strVal val="visible"/>
                                      </p:to>
                                    </p:set>
                                    <p:animEffect transition="in" filter="fade">
                                      <p:cBhvr>
                                        <p:cTn id="42" dur="1000"/>
                                        <p:tgtEl>
                                          <p:spTgt spid="4">
                                            <p:txEl>
                                              <p:pRg st="8" end="8"/>
                                            </p:txEl>
                                          </p:spTgt>
                                        </p:tgtEl>
                                      </p:cBhvr>
                                    </p:animEffect>
                                    <p:anim calcmode="lin" valueType="num">
                                      <p:cBhvr>
                                        <p:cTn id="4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7292</TotalTime>
  <Words>552</Words>
  <Application>Microsoft Office PowerPoint</Application>
  <PresentationFormat>Widescreen</PresentationFormat>
  <Paragraphs>108</Paragraphs>
  <Slides>13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BIA Template</vt:lpstr>
      <vt:lpstr>PowerPoint Presentation</vt:lpstr>
      <vt:lpstr>Agenda</vt:lpstr>
      <vt:lpstr>Problem Statement :</vt:lpstr>
      <vt:lpstr>Objective</vt:lpstr>
      <vt:lpstr>Dataset Overview</vt:lpstr>
      <vt:lpstr>Methodology</vt:lpstr>
      <vt:lpstr>Exploratory Data Analysis (EDA)</vt:lpstr>
      <vt:lpstr>Why K-means Cluster</vt:lpstr>
      <vt:lpstr>Comparison of K-means vs DBscan</vt:lpstr>
      <vt:lpstr>Dashboard Overview </vt:lpstr>
      <vt:lpstr>Key Insights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T H U G Y O U T H</cp:lastModifiedBy>
  <cp:revision>2260</cp:revision>
  <dcterms:created xsi:type="dcterms:W3CDTF">2020-12-23T13:36:00Z</dcterms:created>
  <dcterms:modified xsi:type="dcterms:W3CDTF">2026-04-10T16:44:05Z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